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800" b="0" i="0" u="none" strike="noStrike">
                <a:solidFill>
                  <a:srgbClr val="000000"/>
                </a:solidFill>
                <a:latin typeface="Arial"/>
              </a:defRPr>
            </a:pPr>
            <a:r>
              <a:rPr sz="1800" b="0" i="0" u="none" strike="noStrike">
                <a:solidFill>
                  <a:srgbClr val="000000"/>
                </a:solidFill>
                <a:latin typeface="Arial"/>
              </a:rPr>
              <a:t>Held-out test metrics (%)</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386A3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CNN</c:v>
                  </c:pt>
                  <c:pt idx="1">
                    <c:v>VGG16</c:v>
                  </c:pt>
                </c:lvl>
              </c:multiLvlStrCache>
            </c:multiLvlStrRef>
          </c:cat>
          <c:val>
            <c:numRef>
              <c:f>Sheet1!$B$2:$B$3</c:f>
              <c:numCache>
                <c:formatCode>General</c:formatCode>
                <c:ptCount val="2"/>
                <c:pt idx="0">
                  <c:v>77.78</c:v>
                </c:pt>
                <c:pt idx="1">
                  <c:v>70.22</c:v>
                </c:pt>
              </c:numCache>
            </c:numRef>
          </c:val>
        </c:ser>
        <c:ser>
          <c:idx val="1"/>
          <c:order val="1"/>
          <c:tx>
            <c:strRef>
              <c:f>Sheet1!$C$1</c:f>
              <c:strCache>
                <c:ptCount val="1"/>
                <c:pt idx="0">
                  <c:v>Macro F1</c:v>
                </c:pt>
              </c:strCache>
            </c:strRef>
          </c:tx>
          <c:spPr>
            <a:solidFill>
              <a:srgbClr val="A4C67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Sheet1!$A$2:$A$3</c:f>
              <c:multiLvlStrCache>
                <c:ptCount val="2"/>
                <c:lvl>
                  <c:pt idx="0">
                    <c:v>CNN</c:v>
                  </c:pt>
                  <c:pt idx="1">
                    <c:v>VGG16</c:v>
                  </c:pt>
                </c:lvl>
              </c:multiLvlStrCache>
            </c:multiLvlStrRef>
          </c:cat>
          <c:val>
            <c:numRef>
              <c:f>Sheet1!$C$2:$C$3</c:f>
              <c:numCache>
                <c:formatCode>General</c:formatCode>
                <c:ptCount val="2"/>
                <c:pt idx="0">
                  <c:v>76.56</c:v>
                </c:pt>
                <c:pt idx="1">
                  <c:v>70.17</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5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DE5D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Explainable crop leaf disease classification CNN · VGG16 transfer learning · PlantVillage
Atul Biju · ASI23CA023
Athul M B · ASI23CA022
Athul Chandran · ASI23CA021
Live demo: https://leaflens-black.vercel.app
Results describe a documented subset experiment, not the full Kaggle dataset or field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convolutional visual features distinguish leaf disease patterns—and make their predictions inspectable?
Observe
A clear leaf photograph is an inexpensive input.
Compare
A CNN baseline tests what can be learned from scratch.
Explain
VGG16, confidence alternatives and Grad-CAM reveal the model’s view.
Live demo: https://leaflens-black.vercel.app
Results describe a documented subset experiment, not the full Kaggle dataset or field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Assigned source: PlantVillage, Kaggle. Measured run: documented upstream color subset.
Classes across tomato, potato and bell pepper
Unique selected images after duplicate removal
Per-class train / validation / test partition
Decoded-pixel duplicates removed before splitting. Seed 42. Physical-leaf grouping and near duplicates remain unverified.
Live demo: https://leaflens-black.vercel.app
Results describe a documented subset experiment, not the full Kaggle dataset or field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only
Horizontal and vertical flips
Rotation up to 20 degrees
Mild color and brightness variation
Class weights from training counts
Every image
Orientation correction and RGB conversion
Resize to configured resolution
ImageNet mean / standard deviation
Deterministic validation and test transforms
Live demo: https://leaflens-black.vercel.app
Results describe a documented subset experiment, not the full Kaggle dataset or field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 CNN
Four Conv → BatchNorm → ReLU → Pool blocks. 32 → 64 → 128 → 256 channels.
Global pooling, dropout, disease logits. Randomly initialized.
VGG16 transfer learning
ImageNet convolutional backbone. Global pooling → 512 → 256 → class logits.
Freeze the backbone first. Train the compact disease head.
Same partition, seed and input resolution for a controlled architecture comparison.
Live demo: https://leaflens-black.vercel.app
Results describe a documented subset experiment, not the full Kaggle dataset or field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Classifier only
AdamW · learning rate 1e-3
Final VGG16 block + head
AdamW · learning rate 1e-5
Dropout, weight decay and label smoothing regularize training. Validation selects checkpoints; test images do not.
Early stopping cannot skip the required fine-tuning phase. The best checkpoint may still come from the frozen stage.
Live demo: https://leaflens-black.vercel.app
Results describe a documented subset experiment, not the full Kaggle dataset or field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subset experiment · 128×128 inputs · 100 images/class cap · controlled backgrounds. These results do not establish field accuracy.
Macro F1 gives each class equal weight. Per-class precision, recall and confusion matrices reveal hidden weaknesses.
Live demo: https://leaflens-black.vercel.app
Results describe a documented subset experiment, not the full Kaggle dataset or field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Training/validation curves expose overfitting. The confusion matrix shows which true classes are mistaken for other classes.
Live demo: https://leaflens-black.vercel.app
Results describe a documented subset experiment, not the full Kaggle dataset or field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Grad-CAM weights final convolutional activations by class gradients, rectifies the combined map, and overlays it on the photograph.
Inspect
See regions influencing the selected class.
Question
Check whether backgrounds attract attention.
Interpret carefully
Attention is not lesion segmentation, severity or proof of correctness.
Live demo: https://leaflens-black.vercel.app
Results describe a documented subset experiment, not the full Kaggle dataset or field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Diagnosis · disease atlas · measured model lab · local field notes
Live demo: https://leaflens-black.vercel.app
Results describe a documented subset experiment, not the full Kaggle dataset or field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Potential value
Low-cost photographic observations
Hosted inference and a browser-local history
Clear information for agricultural consultation
What remains unverified
Real field generalization
Unknown diseases and non-leaf inputs
Calibrated probabilities
Farmer outcomes or yield improvements
Live demo: https://leaflens-black.vercel.app
Results describe a documented subset experiment, not the full Kaggle dataset or field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Full-data training → leaf-grouped splits → external field validation → confidence calibration → usability studies.
Mohanty et al. (2016), Using Deep Learning for Image-Based Plant Disease Detection.
Simonyan &amp; Zisserman (2014), Very Deep Convolutional Networks for Large-Scale Image Recognition.
Selvaraju et al. (2016), Grad-CAM: Visual Explanations from Deep Networks.
PlantVillage Kaggle dataset; original authors’ dataset repository; PyTorch/Torchvision documentation.
Live demonstration: open LeafLens and inspect a held-out sample.
Live demo: https://leaflens-black.vercel.app
Results describe a documented subset experiment, not the full Kaggle dataset or field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E2C"/>
        </a:solidFill>
      </p:bgPr>
    </p:bg>
    <p:spTree>
      <p:nvGrpSpPr>
        <p:cNvPr id="1" name=""/>
        <p:cNvGrpSpPr/>
        <p:nvPr/>
      </p:nvGrpSpPr>
      <p:grpSpPr>
        <a:xfrm>
          <a:off x="0" y="0"/>
          <a:ext cx="0" cy="0"/>
          <a:chOff x="0" y="0"/>
          <a:chExt cx="0" cy="0"/>
        </a:xfrm>
      </p:grpSpPr>
      <p:sp>
        <p:nvSpPr>
          <p:cNvPr id="2" name="Text 0"/>
          <p:cNvSpPr/>
          <p:nvPr/>
        </p:nvSpPr>
        <p:spPr>
          <a:xfrm>
            <a:off x="594360" y="320040"/>
            <a:ext cx="10789920" cy="228600"/>
          </a:xfrm>
          <a:prstGeom prst="rect">
            <a:avLst/>
          </a:prstGeom>
          <a:noFill/>
          <a:ln/>
        </p:spPr>
        <p:txBody>
          <a:bodyPr wrap="square" lIns="0" tIns="0" rIns="0" bIns="0" rtlCol="0" anchor="ctr"/>
          <a:lstStyle/>
          <a:p>
            <a:pPr indent="0" marL="0">
              <a:buNone/>
            </a:pPr>
            <a:r>
              <a:rPr lang="en-US" sz="1100" spc="200" kern="0" dirty="0">
                <a:solidFill>
                  <a:srgbClr val="CBE79D"/>
                </a:solidFill>
              </a:rPr>
              <a:t>LEAFLENS</a:t>
            </a:r>
            <a:endParaRPr lang="en-US" sz="1100" dirty="0"/>
          </a:p>
        </p:txBody>
      </p:sp>
      <p:sp>
        <p:nvSpPr>
          <p:cNvPr id="3" name="Text 1"/>
          <p:cNvSpPr/>
          <p:nvPr/>
        </p:nvSpPr>
        <p:spPr>
          <a:xfrm>
            <a:off x="594360" y="868680"/>
            <a:ext cx="6400800" cy="1005840"/>
          </a:xfrm>
          <a:prstGeom prst="rect">
            <a:avLst/>
          </a:prstGeom>
          <a:noFill/>
          <a:ln/>
        </p:spPr>
        <p:txBody>
          <a:bodyPr wrap="square" lIns="0" tIns="0" rIns="0" bIns="0" rtlCol="0" anchor="ctr">
            <a:normAutofit/>
          </a:bodyPr>
          <a:lstStyle/>
          <a:p>
            <a:pPr indent="0" marL="0">
              <a:buNone/>
            </a:pPr>
            <a:r>
              <a:rPr lang="en-US" sz="3500" b="1" dirty="0">
                <a:solidFill>
                  <a:srgbClr val="F4F8EB"/>
                </a:solidFill>
              </a:rPr>
              <a:t>A closer look. A healthier harvest.</a:t>
            </a:r>
            <a:endParaRPr lang="en-US" sz="3500" dirty="0"/>
          </a:p>
        </p:txBody>
      </p:sp>
      <p:sp>
        <p:nvSpPr>
          <p:cNvPr id="4" name="Text 2"/>
          <p:cNvSpPr/>
          <p:nvPr/>
        </p:nvSpPr>
        <p:spPr>
          <a:xfrm>
            <a:off x="594360" y="2057400"/>
            <a:ext cx="6583680" cy="3931920"/>
          </a:xfrm>
          <a:prstGeom prst="rect">
            <a:avLst/>
          </a:prstGeom>
          <a:noFill/>
          <a:ln/>
        </p:spPr>
        <p:txBody>
          <a:bodyPr wrap="square" lIns="0" tIns="0" rIns="0" bIns="0" rtlCol="0" anchor="t">
            <a:normAutofit/>
          </a:bodyPr>
          <a:lstStyle/>
          <a:p>
            <a:pPr indent="0" marL="0">
              <a:spcAft>
                <a:spcPts val="700"/>
              </a:spcAft>
              <a:buNone/>
            </a:pPr>
            <a:r>
              <a:rPr lang="en-US" sz="1900" dirty="0">
                <a:solidFill>
                  <a:srgbClr val="F4F8EB"/>
                </a:solidFill>
              </a:rPr>
              <a:t>Explainable crop leaf disease classification CNN · VGG16 transfer learning · PlantVillage</a:t>
            </a:r>
            <a:endParaRPr lang="en-US" sz="1900" dirty="0"/>
          </a:p>
          <a:p>
            <a:pPr indent="0" marL="0">
              <a:spcAft>
                <a:spcPts val="700"/>
              </a:spcAft>
              <a:buNone/>
            </a:pPr>
            <a:r>
              <a:rPr lang="en-US" sz="1900" dirty="0">
                <a:solidFill>
                  <a:srgbClr val="F4F8EB"/>
                </a:solidFill>
              </a:rPr>
              <a:t>Atul Biju · ASI23CA023</a:t>
            </a:r>
            <a:endParaRPr lang="en-US" sz="1900" dirty="0"/>
          </a:p>
          <a:p>
            <a:pPr indent="0" marL="0">
              <a:spcAft>
                <a:spcPts val="700"/>
              </a:spcAft>
              <a:buNone/>
            </a:pPr>
            <a:r>
              <a:rPr lang="en-US" sz="1900" dirty="0">
                <a:solidFill>
                  <a:srgbClr val="F4F8EB"/>
                </a:solidFill>
              </a:rPr>
              <a:t>Athul M B · ASI23CA022</a:t>
            </a:r>
            <a:endParaRPr lang="en-US" sz="1900" dirty="0"/>
          </a:p>
          <a:p>
            <a:pPr indent="0" marL="0">
              <a:spcAft>
                <a:spcPts val="700"/>
              </a:spcAft>
              <a:buNone/>
            </a:pPr>
            <a:r>
              <a:rPr lang="en-US" sz="1900" dirty="0">
                <a:solidFill>
                  <a:srgbClr val="F4F8EB"/>
                </a:solidFill>
              </a:rPr>
              <a:t>Athul Chandran · ASI23CA021</a:t>
            </a:r>
            <a:endParaRPr lang="en-US" sz="1900" dirty="0"/>
          </a:p>
        </p:txBody>
      </p:sp>
      <p:pic>
        <p:nvPicPr>
          <p:cNvPr id="5" name="Image 0" descr="E:\Projects\S7 Deep Learning\leaflens\frontend\public\botanical.jpg">    </p:cNvPr>
          <p:cNvPicPr>
            <a:picLocks noChangeAspect="1"/>
          </p:cNvPicPr>
          <p:nvPr/>
        </p:nvPicPr>
        <p:blipFill>
          <a:blip r:embed="rId1"/>
          <a:stretch>
            <a:fillRect/>
          </a:stretch>
        </p:blipFill>
        <p:spPr>
          <a:xfrm>
            <a:off x="7680960" y="960120"/>
            <a:ext cx="3931920" cy="5212080"/>
          </a:xfrm>
          <a:prstGeom prst="rect">
            <a:avLst/>
          </a:prstGeom>
        </p:spPr>
      </p:pic>
      <p:sp>
        <p:nvSpPr>
          <p:cNvPr id="6" name="Shape 3"/>
          <p:cNvSpPr/>
          <p:nvPr/>
        </p:nvSpPr>
        <p:spPr>
          <a:xfrm>
            <a:off x="594360" y="6309360"/>
            <a:ext cx="10972800" cy="0"/>
          </a:xfrm>
          <a:prstGeom prst="line">
            <a:avLst/>
          </a:prstGeom>
          <a:noFill/>
          <a:ln w="12700">
            <a:solidFill>
              <a:srgbClr val="57754A"/>
            </a:solidFill>
            <a:prstDash val="solid"/>
          </a:ln>
        </p:spPr>
      </p:sp>
      <p:sp>
        <p:nvSpPr>
          <p:cNvPr id="7" name="Text 4"/>
          <p:cNvSpPr/>
          <p:nvPr/>
        </p:nvSpPr>
        <p:spPr>
          <a:xfrm>
            <a:off x="594360" y="6446520"/>
            <a:ext cx="9144000" cy="182880"/>
          </a:xfrm>
          <a:prstGeom prst="rect">
            <a:avLst/>
          </a:prstGeom>
          <a:noFill/>
          <a:ln/>
        </p:spPr>
        <p:txBody>
          <a:bodyPr wrap="square" lIns="0" tIns="0" rIns="0" bIns="0" rtlCol="0" anchor="ctr"/>
          <a:lstStyle/>
          <a:p>
            <a:pPr indent="0" marL="0">
              <a:buNone/>
            </a:pPr>
            <a:r>
              <a:rPr lang="en-US" sz="1000" dirty="0">
                <a:solidFill>
                  <a:srgbClr val="CBE79D"/>
                </a:solidFill>
              </a:rPr>
              <a:t>LeafLens · Deep Learning course project</a:t>
            </a:r>
            <a:endParaRPr lang="en-US" sz="1000" dirty="0"/>
          </a:p>
        </p:txBody>
      </p:sp>
      <p:sp>
        <p:nvSpPr>
          <p:cNvPr id="8" name="Text 5"/>
          <p:cNvSpPr/>
          <p:nvPr/>
        </p:nvSpPr>
        <p:spPr>
          <a:xfrm>
            <a:off x="10607040" y="6446520"/>
            <a:ext cx="914400" cy="182880"/>
          </a:xfrm>
          <a:prstGeom prst="rect">
            <a:avLst/>
          </a:prstGeom>
          <a:noFill/>
          <a:ln/>
        </p:spPr>
        <p:txBody>
          <a:bodyPr wrap="square" lIns="0" tIns="0" rIns="0" bIns="0" rtlCol="0" anchor="ctr"/>
          <a:lstStyle/>
          <a:p>
            <a:pPr algn="r" indent="0" marL="0">
              <a:buNone/>
            </a:pPr>
            <a:r>
              <a:rPr lang="en-US" sz="1000" dirty="0">
                <a:solidFill>
                  <a:srgbClr val="CBE79D"/>
                </a:solidFill>
              </a:rPr>
              <a:t>01 / 12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EF"/>
        </a:solidFill>
      </p:bgPr>
    </p:bg>
    <p:spTree>
      <p:nvGrpSpPr>
        <p:cNvPr id="1" name=""/>
        <p:cNvGrpSpPr/>
        <p:nvPr/>
      </p:nvGrpSpPr>
      <p:grpSpPr>
        <a:xfrm>
          <a:off x="0" y="0"/>
          <a:ext cx="0" cy="0"/>
          <a:chOff x="0" y="0"/>
          <a:chExt cx="0" cy="0"/>
        </a:xfrm>
      </p:grpSpPr>
      <p:sp>
        <p:nvSpPr>
          <p:cNvPr id="2" name="Text 0"/>
          <p:cNvSpPr/>
          <p:nvPr/>
        </p:nvSpPr>
        <p:spPr>
          <a:xfrm>
            <a:off x="594360" y="320040"/>
            <a:ext cx="10789920" cy="228600"/>
          </a:xfrm>
          <a:prstGeom prst="rect">
            <a:avLst/>
          </a:prstGeom>
          <a:noFill/>
          <a:ln/>
        </p:spPr>
        <p:txBody>
          <a:bodyPr wrap="square" lIns="0" tIns="0" rIns="0" bIns="0" rtlCol="0" anchor="ctr"/>
          <a:lstStyle/>
          <a:p>
            <a:pPr indent="0" marL="0">
              <a:buNone/>
            </a:pPr>
            <a:r>
              <a:rPr lang="en-US" sz="1100" spc="200" kern="0" dirty="0">
                <a:solidFill>
                  <a:srgbClr val="728565"/>
                </a:solidFill>
              </a:rPr>
              <a:t>THE PROBLEM</a:t>
            </a:r>
            <a:endParaRPr lang="en-US" sz="1100" dirty="0"/>
          </a:p>
        </p:txBody>
      </p:sp>
      <p:sp>
        <p:nvSpPr>
          <p:cNvPr id="3" name="Text 1"/>
          <p:cNvSpPr/>
          <p:nvPr/>
        </p:nvSpPr>
        <p:spPr>
          <a:xfrm>
            <a:off x="594360" y="868680"/>
            <a:ext cx="10972800" cy="1005840"/>
          </a:xfrm>
          <a:prstGeom prst="rect">
            <a:avLst/>
          </a:prstGeom>
          <a:noFill/>
          <a:ln/>
        </p:spPr>
        <p:txBody>
          <a:bodyPr wrap="square" lIns="0" tIns="0" rIns="0" bIns="0" rtlCol="0" anchor="ctr">
            <a:normAutofit/>
          </a:bodyPr>
          <a:lstStyle/>
          <a:p>
            <a:pPr indent="0" marL="0">
              <a:buNone/>
            </a:pPr>
            <a:r>
              <a:rPr lang="en-US" sz="3100" b="1" dirty="0">
                <a:solidFill>
                  <a:srgbClr val="173E2C"/>
                </a:solidFill>
              </a:rPr>
              <a:t>Low-cost observations. Better crop health conversations.</a:t>
            </a:r>
            <a:endParaRPr lang="en-US" sz="3100" dirty="0"/>
          </a:p>
        </p:txBody>
      </p:sp>
      <p:sp>
        <p:nvSpPr>
          <p:cNvPr id="4" name="Text 2"/>
          <p:cNvSpPr/>
          <p:nvPr/>
        </p:nvSpPr>
        <p:spPr>
          <a:xfrm>
            <a:off x="594360" y="2057400"/>
            <a:ext cx="10972800" cy="3931920"/>
          </a:xfrm>
          <a:prstGeom prst="rect">
            <a:avLst/>
          </a:prstGeom>
          <a:noFill/>
          <a:ln/>
        </p:spPr>
        <p:txBody>
          <a:bodyPr wrap="square" lIns="0" tIns="0" rIns="0" bIns="0" rtlCol="0" anchor="t">
            <a:normAutofit/>
          </a:bodyPr>
          <a:lstStyle/>
          <a:p>
            <a:pPr indent="0" marL="0">
              <a:spcAft>
                <a:spcPts val="700"/>
              </a:spcAft>
              <a:buNone/>
            </a:pPr>
            <a:r>
              <a:rPr lang="en-US" sz="1750" dirty="0">
                <a:solidFill>
                  <a:srgbClr val="173E2C"/>
                </a:solidFill>
              </a:rPr>
              <a:t>Can convolutional visual features distinguish leaf disease patterns—and make their predictions inspectable?</a:t>
            </a:r>
            <a:endParaRPr lang="en-US" sz="1750" dirty="0"/>
          </a:p>
          <a:p>
            <a:pPr indent="0" marL="0">
              <a:spcAft>
                <a:spcPts val="700"/>
              </a:spcAft>
              <a:buNone/>
            </a:pPr>
            <a:r>
              <a:rPr lang="en-US" sz="1750" dirty="0">
                <a:solidFill>
                  <a:srgbClr val="173E2C"/>
                </a:solidFill>
              </a:rPr>
              <a:t>Observe</a:t>
            </a:r>
            <a:endParaRPr lang="en-US" sz="1750" dirty="0"/>
          </a:p>
          <a:p>
            <a:pPr indent="0" marL="0">
              <a:spcAft>
                <a:spcPts val="700"/>
              </a:spcAft>
              <a:buNone/>
            </a:pPr>
            <a:r>
              <a:rPr lang="en-US" sz="1750" dirty="0">
                <a:solidFill>
                  <a:srgbClr val="173E2C"/>
                </a:solidFill>
              </a:rPr>
              <a:t>A clear leaf photograph is an inexpensive input.</a:t>
            </a:r>
            <a:endParaRPr lang="en-US" sz="1750" dirty="0"/>
          </a:p>
          <a:p>
            <a:pPr indent="0" marL="0">
              <a:spcAft>
                <a:spcPts val="700"/>
              </a:spcAft>
              <a:buNone/>
            </a:pPr>
            <a:r>
              <a:rPr lang="en-US" sz="1750" dirty="0">
                <a:solidFill>
                  <a:srgbClr val="173E2C"/>
                </a:solidFill>
              </a:rPr>
              <a:t>Compare</a:t>
            </a:r>
            <a:endParaRPr lang="en-US" sz="1750" dirty="0"/>
          </a:p>
          <a:p>
            <a:pPr indent="0" marL="0">
              <a:spcAft>
                <a:spcPts val="700"/>
              </a:spcAft>
              <a:buNone/>
            </a:pPr>
            <a:r>
              <a:rPr lang="en-US" sz="1750" dirty="0">
                <a:solidFill>
                  <a:srgbClr val="173E2C"/>
                </a:solidFill>
              </a:rPr>
              <a:t>A CNN baseline tests what can be learned from scratch.</a:t>
            </a:r>
            <a:endParaRPr lang="en-US" sz="1750" dirty="0"/>
          </a:p>
          <a:p>
            <a:pPr indent="0" marL="0">
              <a:spcAft>
                <a:spcPts val="700"/>
              </a:spcAft>
              <a:buNone/>
            </a:pPr>
            <a:r>
              <a:rPr lang="en-US" sz="1750" dirty="0">
                <a:solidFill>
                  <a:srgbClr val="173E2C"/>
                </a:solidFill>
              </a:rPr>
              <a:t>Explain</a:t>
            </a:r>
            <a:endParaRPr lang="en-US" sz="1750" dirty="0"/>
          </a:p>
          <a:p>
            <a:pPr indent="0" marL="0">
              <a:spcAft>
                <a:spcPts val="700"/>
              </a:spcAft>
              <a:buNone/>
            </a:pPr>
            <a:r>
              <a:rPr lang="en-US" sz="1750" dirty="0">
                <a:solidFill>
                  <a:srgbClr val="173E2C"/>
                </a:solidFill>
              </a:rPr>
              <a:t>VGG16, confidence alternatives and Grad-CAM reveal the model’s view.</a:t>
            </a:r>
            <a:endParaRPr lang="en-US" sz="1750" dirty="0"/>
          </a:p>
        </p:txBody>
      </p:sp>
      <p:sp>
        <p:nvSpPr>
          <p:cNvPr id="5" name="Shape 3"/>
          <p:cNvSpPr/>
          <p:nvPr/>
        </p:nvSpPr>
        <p:spPr>
          <a:xfrm>
            <a:off x="594360" y="6309360"/>
            <a:ext cx="10972800" cy="0"/>
          </a:xfrm>
          <a:prstGeom prst="line">
            <a:avLst/>
          </a:prstGeom>
          <a:noFill/>
          <a:ln w="12700">
            <a:solidFill>
              <a:srgbClr val="D6E2C8"/>
            </a:solidFill>
            <a:prstDash val="solid"/>
          </a:ln>
        </p:spPr>
      </p:sp>
      <p:sp>
        <p:nvSpPr>
          <p:cNvPr id="6" name="Text 4"/>
          <p:cNvSpPr/>
          <p:nvPr/>
        </p:nvSpPr>
        <p:spPr>
          <a:xfrm>
            <a:off x="594360" y="6446520"/>
            <a:ext cx="9144000" cy="182880"/>
          </a:xfrm>
          <a:prstGeom prst="rect">
            <a:avLst/>
          </a:prstGeom>
          <a:noFill/>
          <a:ln/>
        </p:spPr>
        <p:txBody>
          <a:bodyPr wrap="square" lIns="0" tIns="0" rIns="0" bIns="0" rtlCol="0" anchor="ctr"/>
          <a:lstStyle/>
          <a:p>
            <a:pPr indent="0" marL="0">
              <a:buNone/>
            </a:pPr>
            <a:r>
              <a:rPr lang="en-US" sz="1000" dirty="0">
                <a:solidFill>
                  <a:srgbClr val="728565"/>
                </a:solidFill>
              </a:rPr>
              <a:t>LeafLens · Deep Learning course project</a:t>
            </a:r>
            <a:endParaRPr lang="en-US" sz="1000" dirty="0"/>
          </a:p>
        </p:txBody>
      </p:sp>
      <p:sp>
        <p:nvSpPr>
          <p:cNvPr id="7" name="Text 5"/>
          <p:cNvSpPr/>
          <p:nvPr/>
        </p:nvSpPr>
        <p:spPr>
          <a:xfrm>
            <a:off x="10607040" y="6446520"/>
            <a:ext cx="914400" cy="182880"/>
          </a:xfrm>
          <a:prstGeom prst="rect">
            <a:avLst/>
          </a:prstGeom>
          <a:noFill/>
          <a:ln/>
        </p:spPr>
        <p:txBody>
          <a:bodyPr wrap="square" lIns="0" tIns="0" rIns="0" bIns="0" rtlCol="0" anchor="ctr"/>
          <a:lstStyle/>
          <a:p>
            <a:pPr algn="r" indent="0" marL="0">
              <a:buNone/>
            </a:pPr>
            <a:r>
              <a:rPr lang="en-US" sz="1000" dirty="0">
                <a:solidFill>
                  <a:srgbClr val="728565"/>
                </a:solidFill>
              </a:rPr>
              <a:t>02 / 12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EF"/>
        </a:solidFill>
      </p:bgPr>
    </p:bg>
    <p:spTree>
      <p:nvGrpSpPr>
        <p:cNvPr id="1" name=""/>
        <p:cNvGrpSpPr/>
        <p:nvPr/>
      </p:nvGrpSpPr>
      <p:grpSpPr>
        <a:xfrm>
          <a:off x="0" y="0"/>
          <a:ext cx="0" cy="0"/>
          <a:chOff x="0" y="0"/>
          <a:chExt cx="0" cy="0"/>
        </a:xfrm>
      </p:grpSpPr>
      <p:sp>
        <p:nvSpPr>
          <p:cNvPr id="2" name="Text 0"/>
          <p:cNvSpPr/>
          <p:nvPr/>
        </p:nvSpPr>
        <p:spPr>
          <a:xfrm>
            <a:off x="594360" y="320040"/>
            <a:ext cx="10789920" cy="228600"/>
          </a:xfrm>
          <a:prstGeom prst="rect">
            <a:avLst/>
          </a:prstGeom>
          <a:noFill/>
          <a:ln/>
        </p:spPr>
        <p:txBody>
          <a:bodyPr wrap="square" lIns="0" tIns="0" rIns="0" bIns="0" rtlCol="0" anchor="ctr"/>
          <a:lstStyle/>
          <a:p>
            <a:pPr indent="0" marL="0">
              <a:buNone/>
            </a:pPr>
            <a:r>
              <a:rPr lang="en-US" sz="1100" spc="200" kern="0" dirty="0">
                <a:solidFill>
                  <a:srgbClr val="728565"/>
                </a:solidFill>
              </a:rPr>
              <a:t>WEEK 1 · DATASET PREPARATION</a:t>
            </a:r>
            <a:endParaRPr lang="en-US" sz="1100" dirty="0"/>
          </a:p>
        </p:txBody>
      </p:sp>
      <p:sp>
        <p:nvSpPr>
          <p:cNvPr id="3" name="Text 1"/>
          <p:cNvSpPr/>
          <p:nvPr/>
        </p:nvSpPr>
        <p:spPr>
          <a:xfrm>
            <a:off x="594360" y="868680"/>
            <a:ext cx="10972800" cy="1005840"/>
          </a:xfrm>
          <a:prstGeom prst="rect">
            <a:avLst/>
          </a:prstGeom>
          <a:noFill/>
          <a:ln/>
        </p:spPr>
        <p:txBody>
          <a:bodyPr wrap="square" lIns="0" tIns="0" rIns="0" bIns="0" rtlCol="0" anchor="ctr">
            <a:normAutofit/>
          </a:bodyPr>
          <a:lstStyle/>
          <a:p>
            <a:pPr indent="0" marL="0">
              <a:buNone/>
            </a:pPr>
            <a:r>
              <a:rPr lang="en-US" sz="3100" b="1" dirty="0">
                <a:solidFill>
                  <a:srgbClr val="173E2C"/>
                </a:solidFill>
              </a:rPr>
              <a:t>Start with a defensible split.</a:t>
            </a:r>
            <a:endParaRPr lang="en-US" sz="3100" dirty="0"/>
          </a:p>
        </p:txBody>
      </p:sp>
      <p:sp>
        <p:nvSpPr>
          <p:cNvPr id="4" name="Text 2"/>
          <p:cNvSpPr/>
          <p:nvPr/>
        </p:nvSpPr>
        <p:spPr>
          <a:xfrm>
            <a:off x="594360" y="2057400"/>
            <a:ext cx="10972800" cy="3931920"/>
          </a:xfrm>
          <a:prstGeom prst="rect">
            <a:avLst/>
          </a:prstGeom>
          <a:noFill/>
          <a:ln/>
        </p:spPr>
        <p:txBody>
          <a:bodyPr wrap="square" lIns="0" tIns="0" rIns="0" bIns="0" rtlCol="0" anchor="t">
            <a:normAutofit/>
          </a:bodyPr>
          <a:lstStyle/>
          <a:p>
            <a:pPr indent="0" marL="0">
              <a:spcAft>
                <a:spcPts val="700"/>
              </a:spcAft>
              <a:buNone/>
            </a:pPr>
            <a:r>
              <a:rPr lang="en-US" sz="1750" dirty="0">
                <a:solidFill>
                  <a:srgbClr val="173E2C"/>
                </a:solidFill>
              </a:rPr>
              <a:t>15 classes / 1,500 images / 1,050 train · 225 validation · 225 test</a:t>
            </a:r>
            <a:endParaRPr lang="en-US" sz="1750" dirty="0"/>
          </a:p>
          <a:p>
            <a:pPr indent="0" marL="0">
              <a:spcAft>
                <a:spcPts val="700"/>
              </a:spcAft>
              <a:buNone/>
            </a:pPr>
            <a:endParaRPr lang="en-US" sz="1750" dirty="0"/>
          </a:p>
          <a:p>
            <a:pPr indent="0" marL="0">
              <a:spcAft>
                <a:spcPts val="700"/>
              </a:spcAft>
              <a:buNone/>
            </a:pPr>
            <a:r>
              <a:rPr lang="en-US" sz="1750" dirty="0">
                <a:solidFill>
                  <a:srgbClr val="173E2C"/>
                </a:solidFill>
              </a:rPr>
              <a:t>Assigned source: PlantVillage, Kaggle. Measured run: documented upstream color subset.</a:t>
            </a:r>
            <a:endParaRPr lang="en-US" sz="1750" dirty="0"/>
          </a:p>
          <a:p>
            <a:pPr indent="0" marL="0">
              <a:spcAft>
                <a:spcPts val="700"/>
              </a:spcAft>
              <a:buNone/>
            </a:pPr>
            <a:r>
              <a:rPr lang="en-US" sz="1750" dirty="0">
                <a:solidFill>
                  <a:srgbClr val="173E2C"/>
                </a:solidFill>
              </a:rPr>
              <a:t>Classes across tomato, potato and bell pepper</a:t>
            </a:r>
            <a:endParaRPr lang="en-US" sz="1750" dirty="0"/>
          </a:p>
          <a:p>
            <a:pPr indent="0" marL="0">
              <a:spcAft>
                <a:spcPts val="700"/>
              </a:spcAft>
              <a:buNone/>
            </a:pPr>
            <a:r>
              <a:rPr lang="en-US" sz="1750" dirty="0">
                <a:solidFill>
                  <a:srgbClr val="173E2C"/>
                </a:solidFill>
              </a:rPr>
              <a:t>Unique selected images after duplicate removal</a:t>
            </a:r>
            <a:endParaRPr lang="en-US" sz="1750" dirty="0"/>
          </a:p>
          <a:p>
            <a:pPr indent="0" marL="0">
              <a:spcAft>
                <a:spcPts val="700"/>
              </a:spcAft>
              <a:buNone/>
            </a:pPr>
            <a:r>
              <a:rPr lang="en-US" sz="1750" dirty="0">
                <a:solidFill>
                  <a:srgbClr val="173E2C"/>
                </a:solidFill>
              </a:rPr>
              <a:t>Per-class train / validation / test partition</a:t>
            </a:r>
            <a:endParaRPr lang="en-US" sz="1750" dirty="0"/>
          </a:p>
          <a:p>
            <a:pPr indent="0" marL="0">
              <a:spcAft>
                <a:spcPts val="700"/>
              </a:spcAft>
              <a:buNone/>
            </a:pPr>
            <a:r>
              <a:rPr lang="en-US" sz="1750" dirty="0">
                <a:solidFill>
                  <a:srgbClr val="173E2C"/>
                </a:solidFill>
              </a:rPr>
              <a:t>Decoded-pixel duplicates removed before splitting. Seed 42. Physical-leaf grouping and near duplicates remain unverified.</a:t>
            </a:r>
            <a:endParaRPr lang="en-US" sz="1750" dirty="0"/>
          </a:p>
        </p:txBody>
      </p:sp>
      <p:sp>
        <p:nvSpPr>
          <p:cNvPr id="5" name="Shape 3"/>
          <p:cNvSpPr/>
          <p:nvPr/>
        </p:nvSpPr>
        <p:spPr>
          <a:xfrm>
            <a:off x="594360" y="6309360"/>
            <a:ext cx="10972800" cy="0"/>
          </a:xfrm>
          <a:prstGeom prst="line">
            <a:avLst/>
          </a:prstGeom>
          <a:noFill/>
          <a:ln w="12700">
            <a:solidFill>
              <a:srgbClr val="D6E2C8"/>
            </a:solidFill>
            <a:prstDash val="solid"/>
          </a:ln>
        </p:spPr>
      </p:sp>
      <p:sp>
        <p:nvSpPr>
          <p:cNvPr id="6" name="Text 4"/>
          <p:cNvSpPr/>
          <p:nvPr/>
        </p:nvSpPr>
        <p:spPr>
          <a:xfrm>
            <a:off x="594360" y="6446520"/>
            <a:ext cx="9144000" cy="182880"/>
          </a:xfrm>
          <a:prstGeom prst="rect">
            <a:avLst/>
          </a:prstGeom>
          <a:noFill/>
          <a:ln/>
        </p:spPr>
        <p:txBody>
          <a:bodyPr wrap="square" lIns="0" tIns="0" rIns="0" bIns="0" rtlCol="0" anchor="ctr"/>
          <a:lstStyle/>
          <a:p>
            <a:pPr indent="0" marL="0">
              <a:buNone/>
            </a:pPr>
            <a:r>
              <a:rPr lang="en-US" sz="1000" dirty="0">
                <a:solidFill>
                  <a:srgbClr val="728565"/>
                </a:solidFill>
              </a:rPr>
              <a:t>LeafLens · Deep Learning course project</a:t>
            </a:r>
            <a:endParaRPr lang="en-US" sz="1000" dirty="0"/>
          </a:p>
        </p:txBody>
      </p:sp>
      <p:sp>
        <p:nvSpPr>
          <p:cNvPr id="7" name="Text 5"/>
          <p:cNvSpPr/>
          <p:nvPr/>
        </p:nvSpPr>
        <p:spPr>
          <a:xfrm>
            <a:off x="10607040" y="6446520"/>
            <a:ext cx="914400" cy="182880"/>
          </a:xfrm>
          <a:prstGeom prst="rect">
            <a:avLst/>
          </a:prstGeom>
          <a:noFill/>
          <a:ln/>
        </p:spPr>
        <p:txBody>
          <a:bodyPr wrap="square" lIns="0" tIns="0" rIns="0" bIns="0" rtlCol="0" anchor="ctr"/>
          <a:lstStyle/>
          <a:p>
            <a:pPr algn="r" indent="0" marL="0">
              <a:buNone/>
            </a:pPr>
            <a:r>
              <a:rPr lang="en-US" sz="1000" dirty="0">
                <a:solidFill>
                  <a:srgbClr val="728565"/>
                </a:solidFill>
              </a:rPr>
              <a:t>03 / 12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EF"/>
        </a:solidFill>
      </p:bgPr>
    </p:bg>
    <p:spTree>
      <p:nvGrpSpPr>
        <p:cNvPr id="1" name=""/>
        <p:cNvGrpSpPr/>
        <p:nvPr/>
      </p:nvGrpSpPr>
      <p:grpSpPr>
        <a:xfrm>
          <a:off x="0" y="0"/>
          <a:ext cx="0" cy="0"/>
          <a:chOff x="0" y="0"/>
          <a:chExt cx="0" cy="0"/>
        </a:xfrm>
      </p:grpSpPr>
      <p:sp>
        <p:nvSpPr>
          <p:cNvPr id="2" name="Text 0"/>
          <p:cNvSpPr/>
          <p:nvPr/>
        </p:nvSpPr>
        <p:spPr>
          <a:xfrm>
            <a:off x="594360" y="320040"/>
            <a:ext cx="10789920" cy="228600"/>
          </a:xfrm>
          <a:prstGeom prst="rect">
            <a:avLst/>
          </a:prstGeom>
          <a:noFill/>
          <a:ln/>
        </p:spPr>
        <p:txBody>
          <a:bodyPr wrap="square" lIns="0" tIns="0" rIns="0" bIns="0" rtlCol="0" anchor="ctr"/>
          <a:lstStyle/>
          <a:p>
            <a:pPr indent="0" marL="0">
              <a:buNone/>
            </a:pPr>
            <a:r>
              <a:rPr lang="en-US" sz="1100" spc="200" kern="0" dirty="0">
                <a:solidFill>
                  <a:srgbClr val="728565"/>
                </a:solidFill>
              </a:rPr>
              <a:t>WEEK 1 · PREPROCESSING</a:t>
            </a:r>
            <a:endParaRPr lang="en-US" sz="1100" dirty="0"/>
          </a:p>
        </p:txBody>
      </p:sp>
      <p:sp>
        <p:nvSpPr>
          <p:cNvPr id="3" name="Text 1"/>
          <p:cNvSpPr/>
          <p:nvPr/>
        </p:nvSpPr>
        <p:spPr>
          <a:xfrm>
            <a:off x="594360" y="868680"/>
            <a:ext cx="10972800" cy="1005840"/>
          </a:xfrm>
          <a:prstGeom prst="rect">
            <a:avLst/>
          </a:prstGeom>
          <a:noFill/>
          <a:ln/>
        </p:spPr>
        <p:txBody>
          <a:bodyPr wrap="square" lIns="0" tIns="0" rIns="0" bIns="0" rtlCol="0" anchor="ctr">
            <a:normAutofit/>
          </a:bodyPr>
          <a:lstStyle/>
          <a:p>
            <a:pPr indent="0" marL="0">
              <a:buNone/>
            </a:pPr>
            <a:r>
              <a:rPr lang="en-US" sz="3100" b="1" dirty="0">
                <a:solidFill>
                  <a:srgbClr val="173E2C"/>
                </a:solidFill>
              </a:rPr>
              <a:t>Learn variation. Keep evaluation stable.</a:t>
            </a:r>
            <a:endParaRPr lang="en-US" sz="3100" dirty="0"/>
          </a:p>
        </p:txBody>
      </p:sp>
      <p:sp>
        <p:nvSpPr>
          <p:cNvPr id="4" name="Text 2"/>
          <p:cNvSpPr/>
          <p:nvPr/>
        </p:nvSpPr>
        <p:spPr>
          <a:xfrm>
            <a:off x="594360" y="2057400"/>
            <a:ext cx="10972800" cy="3931920"/>
          </a:xfrm>
          <a:prstGeom prst="rect">
            <a:avLst/>
          </a:prstGeom>
          <a:noFill/>
          <a:ln/>
        </p:spPr>
        <p:txBody>
          <a:bodyPr wrap="square" lIns="0" tIns="0" rIns="0" bIns="0" rtlCol="0" anchor="t">
            <a:normAutofit/>
          </a:bodyPr>
          <a:lstStyle/>
          <a:p>
            <a:pPr indent="0" marL="0">
              <a:spcAft>
                <a:spcPts val="700"/>
              </a:spcAft>
              <a:buNone/>
            </a:pPr>
            <a:r>
              <a:rPr lang="en-US" sz="1750" dirty="0">
                <a:solidFill>
                  <a:srgbClr val="173E2C"/>
                </a:solidFill>
              </a:rPr>
              <a:t>Training only</a:t>
            </a:r>
            <a:endParaRPr lang="en-US" sz="1750" dirty="0"/>
          </a:p>
          <a:p>
            <a:pPr indent="0" marL="0">
              <a:spcAft>
                <a:spcPts val="700"/>
              </a:spcAft>
              <a:buNone/>
            </a:pPr>
            <a:r>
              <a:rPr lang="en-US" sz="1750" dirty="0">
                <a:solidFill>
                  <a:srgbClr val="173E2C"/>
                </a:solidFill>
              </a:rPr>
              <a:t>Horizontal and vertical flips</a:t>
            </a:r>
            <a:endParaRPr lang="en-US" sz="1750" dirty="0"/>
          </a:p>
          <a:p>
            <a:pPr indent="0" marL="0">
              <a:spcAft>
                <a:spcPts val="700"/>
              </a:spcAft>
              <a:buNone/>
            </a:pPr>
            <a:r>
              <a:rPr lang="en-US" sz="1750" dirty="0">
                <a:solidFill>
                  <a:srgbClr val="173E2C"/>
                </a:solidFill>
              </a:rPr>
              <a:t>Rotation up to 20 degrees</a:t>
            </a:r>
            <a:endParaRPr lang="en-US" sz="1750" dirty="0"/>
          </a:p>
          <a:p>
            <a:pPr indent="0" marL="0">
              <a:spcAft>
                <a:spcPts val="700"/>
              </a:spcAft>
              <a:buNone/>
            </a:pPr>
            <a:r>
              <a:rPr lang="en-US" sz="1750" dirty="0">
                <a:solidFill>
                  <a:srgbClr val="173E2C"/>
                </a:solidFill>
              </a:rPr>
              <a:t>Mild color and brightness variation</a:t>
            </a:r>
            <a:endParaRPr lang="en-US" sz="1750" dirty="0"/>
          </a:p>
          <a:p>
            <a:pPr indent="0" marL="0">
              <a:spcAft>
                <a:spcPts val="700"/>
              </a:spcAft>
              <a:buNone/>
            </a:pPr>
            <a:r>
              <a:rPr lang="en-US" sz="1750" dirty="0">
                <a:solidFill>
                  <a:srgbClr val="173E2C"/>
                </a:solidFill>
              </a:rPr>
              <a:t>Class weights from training counts</a:t>
            </a:r>
            <a:endParaRPr lang="en-US" sz="1750" dirty="0"/>
          </a:p>
          <a:p>
            <a:pPr indent="0" marL="0">
              <a:spcAft>
                <a:spcPts val="700"/>
              </a:spcAft>
              <a:buNone/>
            </a:pPr>
            <a:r>
              <a:rPr lang="en-US" sz="1750" dirty="0">
                <a:solidFill>
                  <a:srgbClr val="173E2C"/>
                </a:solidFill>
              </a:rPr>
              <a:t>Every image</a:t>
            </a:r>
            <a:endParaRPr lang="en-US" sz="1750" dirty="0"/>
          </a:p>
          <a:p>
            <a:pPr indent="0" marL="0">
              <a:spcAft>
                <a:spcPts val="700"/>
              </a:spcAft>
              <a:buNone/>
            </a:pPr>
            <a:r>
              <a:rPr lang="en-US" sz="1750" dirty="0">
                <a:solidFill>
                  <a:srgbClr val="173E2C"/>
                </a:solidFill>
              </a:rPr>
              <a:t>Orientation correction and RGB conversion</a:t>
            </a:r>
            <a:endParaRPr lang="en-US" sz="1750" dirty="0"/>
          </a:p>
          <a:p>
            <a:pPr indent="0" marL="0">
              <a:spcAft>
                <a:spcPts val="700"/>
              </a:spcAft>
              <a:buNone/>
            </a:pPr>
            <a:r>
              <a:rPr lang="en-US" sz="1750" dirty="0">
                <a:solidFill>
                  <a:srgbClr val="173E2C"/>
                </a:solidFill>
              </a:rPr>
              <a:t>Resize to configured resolution</a:t>
            </a:r>
            <a:endParaRPr lang="en-US" sz="1750" dirty="0"/>
          </a:p>
          <a:p>
            <a:pPr indent="0" marL="0">
              <a:spcAft>
                <a:spcPts val="700"/>
              </a:spcAft>
              <a:buNone/>
            </a:pPr>
            <a:r>
              <a:rPr lang="en-US" sz="1750" dirty="0">
                <a:solidFill>
                  <a:srgbClr val="173E2C"/>
                </a:solidFill>
              </a:rPr>
              <a:t>ImageNet mean / standard deviation</a:t>
            </a:r>
            <a:endParaRPr lang="en-US" sz="1750" dirty="0"/>
          </a:p>
          <a:p>
            <a:pPr indent="0" marL="0">
              <a:spcAft>
                <a:spcPts val="700"/>
              </a:spcAft>
              <a:buNone/>
            </a:pPr>
            <a:r>
              <a:rPr lang="en-US" sz="1750" dirty="0">
                <a:solidFill>
                  <a:srgbClr val="173E2C"/>
                </a:solidFill>
              </a:rPr>
              <a:t>Deterministic validation and test transforms</a:t>
            </a:r>
            <a:endParaRPr lang="en-US" sz="1750" dirty="0"/>
          </a:p>
        </p:txBody>
      </p:sp>
      <p:sp>
        <p:nvSpPr>
          <p:cNvPr id="5" name="Shape 3"/>
          <p:cNvSpPr/>
          <p:nvPr/>
        </p:nvSpPr>
        <p:spPr>
          <a:xfrm>
            <a:off x="594360" y="6309360"/>
            <a:ext cx="10972800" cy="0"/>
          </a:xfrm>
          <a:prstGeom prst="line">
            <a:avLst/>
          </a:prstGeom>
          <a:noFill/>
          <a:ln w="12700">
            <a:solidFill>
              <a:srgbClr val="D6E2C8"/>
            </a:solidFill>
            <a:prstDash val="solid"/>
          </a:ln>
        </p:spPr>
      </p:sp>
      <p:sp>
        <p:nvSpPr>
          <p:cNvPr id="6" name="Text 4"/>
          <p:cNvSpPr/>
          <p:nvPr/>
        </p:nvSpPr>
        <p:spPr>
          <a:xfrm>
            <a:off x="594360" y="6446520"/>
            <a:ext cx="9144000" cy="182880"/>
          </a:xfrm>
          <a:prstGeom prst="rect">
            <a:avLst/>
          </a:prstGeom>
          <a:noFill/>
          <a:ln/>
        </p:spPr>
        <p:txBody>
          <a:bodyPr wrap="square" lIns="0" tIns="0" rIns="0" bIns="0" rtlCol="0" anchor="ctr"/>
          <a:lstStyle/>
          <a:p>
            <a:pPr indent="0" marL="0">
              <a:buNone/>
            </a:pPr>
            <a:r>
              <a:rPr lang="en-US" sz="1000" dirty="0">
                <a:solidFill>
                  <a:srgbClr val="728565"/>
                </a:solidFill>
              </a:rPr>
              <a:t>LeafLens · Deep Learning course project</a:t>
            </a:r>
            <a:endParaRPr lang="en-US" sz="1000" dirty="0"/>
          </a:p>
        </p:txBody>
      </p:sp>
      <p:sp>
        <p:nvSpPr>
          <p:cNvPr id="7" name="Text 5"/>
          <p:cNvSpPr/>
          <p:nvPr/>
        </p:nvSpPr>
        <p:spPr>
          <a:xfrm>
            <a:off x="10607040" y="6446520"/>
            <a:ext cx="914400" cy="182880"/>
          </a:xfrm>
          <a:prstGeom prst="rect">
            <a:avLst/>
          </a:prstGeom>
          <a:noFill/>
          <a:ln/>
        </p:spPr>
        <p:txBody>
          <a:bodyPr wrap="square" lIns="0" tIns="0" rIns="0" bIns="0" rtlCol="0" anchor="ctr"/>
          <a:lstStyle/>
          <a:p>
            <a:pPr algn="r" indent="0" marL="0">
              <a:buNone/>
            </a:pPr>
            <a:r>
              <a:rPr lang="en-US" sz="1000" dirty="0">
                <a:solidFill>
                  <a:srgbClr val="728565"/>
                </a:solidFill>
              </a:rPr>
              <a:t>04 / 12</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EF"/>
        </a:solidFill>
      </p:bgPr>
    </p:bg>
    <p:spTree>
      <p:nvGrpSpPr>
        <p:cNvPr id="1" name=""/>
        <p:cNvGrpSpPr/>
        <p:nvPr/>
      </p:nvGrpSpPr>
      <p:grpSpPr>
        <a:xfrm>
          <a:off x="0" y="0"/>
          <a:ext cx="0" cy="0"/>
          <a:chOff x="0" y="0"/>
          <a:chExt cx="0" cy="0"/>
        </a:xfrm>
      </p:grpSpPr>
      <p:sp>
        <p:nvSpPr>
          <p:cNvPr id="2" name="Text 0"/>
          <p:cNvSpPr/>
          <p:nvPr/>
        </p:nvSpPr>
        <p:spPr>
          <a:xfrm>
            <a:off x="594360" y="320040"/>
            <a:ext cx="10789920" cy="228600"/>
          </a:xfrm>
          <a:prstGeom prst="rect">
            <a:avLst/>
          </a:prstGeom>
          <a:noFill/>
          <a:ln/>
        </p:spPr>
        <p:txBody>
          <a:bodyPr wrap="square" lIns="0" tIns="0" rIns="0" bIns="0" rtlCol="0" anchor="ctr"/>
          <a:lstStyle/>
          <a:p>
            <a:pPr indent="0" marL="0">
              <a:buNone/>
            </a:pPr>
            <a:r>
              <a:rPr lang="en-US" sz="1100" spc="200" kern="0" dirty="0">
                <a:solidFill>
                  <a:srgbClr val="728565"/>
                </a:solidFill>
              </a:rPr>
              <a:t>WEEK 1 · ARCHITECTURE AND BASE TRAINING</a:t>
            </a:r>
            <a:endParaRPr lang="en-US" sz="1100" dirty="0"/>
          </a:p>
        </p:txBody>
      </p:sp>
      <p:sp>
        <p:nvSpPr>
          <p:cNvPr id="3" name="Text 1"/>
          <p:cNvSpPr/>
          <p:nvPr/>
        </p:nvSpPr>
        <p:spPr>
          <a:xfrm>
            <a:off x="594360" y="868680"/>
            <a:ext cx="10972800" cy="1005840"/>
          </a:xfrm>
          <a:prstGeom prst="rect">
            <a:avLst/>
          </a:prstGeom>
          <a:noFill/>
          <a:ln/>
        </p:spPr>
        <p:txBody>
          <a:bodyPr wrap="square" lIns="0" tIns="0" rIns="0" bIns="0" rtlCol="0" anchor="ctr">
            <a:normAutofit/>
          </a:bodyPr>
          <a:lstStyle/>
          <a:p>
            <a:pPr indent="0" marL="0">
              <a:buNone/>
            </a:pPr>
            <a:r>
              <a:rPr lang="en-US" sz="3100" b="1" dirty="0">
                <a:solidFill>
                  <a:srgbClr val="173E2C"/>
                </a:solidFill>
              </a:rPr>
              <a:t>Two ways to learn the leaf.</a:t>
            </a:r>
            <a:endParaRPr lang="en-US" sz="3100" dirty="0"/>
          </a:p>
        </p:txBody>
      </p:sp>
      <p:sp>
        <p:nvSpPr>
          <p:cNvPr id="4" name="Text 2"/>
          <p:cNvSpPr/>
          <p:nvPr/>
        </p:nvSpPr>
        <p:spPr>
          <a:xfrm>
            <a:off x="594360" y="2057400"/>
            <a:ext cx="10972800" cy="3931920"/>
          </a:xfrm>
          <a:prstGeom prst="rect">
            <a:avLst/>
          </a:prstGeom>
          <a:noFill/>
          <a:ln/>
        </p:spPr>
        <p:txBody>
          <a:bodyPr wrap="square" lIns="0" tIns="0" rIns="0" bIns="0" rtlCol="0" anchor="t">
            <a:normAutofit/>
          </a:bodyPr>
          <a:lstStyle/>
          <a:p>
            <a:pPr indent="0" marL="0">
              <a:spcAft>
                <a:spcPts val="700"/>
              </a:spcAft>
              <a:buNone/>
            </a:pPr>
            <a:r>
              <a:rPr lang="en-US" sz="1750" dirty="0">
                <a:solidFill>
                  <a:srgbClr val="173E2C"/>
                </a:solidFill>
              </a:rPr>
              <a:t>Custom CNN</a:t>
            </a:r>
            <a:endParaRPr lang="en-US" sz="1750" dirty="0"/>
          </a:p>
          <a:p>
            <a:pPr indent="0" marL="0">
              <a:spcAft>
                <a:spcPts val="700"/>
              </a:spcAft>
              <a:buNone/>
            </a:pPr>
            <a:r>
              <a:rPr lang="en-US" sz="1750" dirty="0">
                <a:solidFill>
                  <a:srgbClr val="173E2C"/>
                </a:solidFill>
              </a:rPr>
              <a:t>Four Conv → BatchNorm → ReLU → Pool blocks. 32 → 64 → 128 → 256 channels.</a:t>
            </a:r>
            <a:endParaRPr lang="en-US" sz="1750" dirty="0"/>
          </a:p>
          <a:p>
            <a:pPr indent="0" marL="0">
              <a:spcAft>
                <a:spcPts val="700"/>
              </a:spcAft>
              <a:buNone/>
            </a:pPr>
            <a:r>
              <a:rPr lang="en-US" sz="1750" dirty="0">
                <a:solidFill>
                  <a:srgbClr val="173E2C"/>
                </a:solidFill>
              </a:rPr>
              <a:t>Global pooling, dropout, disease logits. Randomly initialized.</a:t>
            </a:r>
            <a:endParaRPr lang="en-US" sz="1750" dirty="0"/>
          </a:p>
          <a:p>
            <a:pPr indent="0" marL="0">
              <a:spcAft>
                <a:spcPts val="700"/>
              </a:spcAft>
              <a:buNone/>
            </a:pPr>
            <a:r>
              <a:rPr lang="en-US" sz="1750" dirty="0">
                <a:solidFill>
                  <a:srgbClr val="173E2C"/>
                </a:solidFill>
              </a:rPr>
              <a:t>VGG16 transfer learning</a:t>
            </a:r>
            <a:endParaRPr lang="en-US" sz="1750" dirty="0"/>
          </a:p>
          <a:p>
            <a:pPr indent="0" marL="0">
              <a:spcAft>
                <a:spcPts val="700"/>
              </a:spcAft>
              <a:buNone/>
            </a:pPr>
            <a:r>
              <a:rPr lang="en-US" sz="1750" dirty="0">
                <a:solidFill>
                  <a:srgbClr val="173E2C"/>
                </a:solidFill>
              </a:rPr>
              <a:t>ImageNet convolutional backbone. Global pooling → 512 → 256 → class logits.</a:t>
            </a:r>
            <a:endParaRPr lang="en-US" sz="1750" dirty="0"/>
          </a:p>
          <a:p>
            <a:pPr indent="0" marL="0">
              <a:spcAft>
                <a:spcPts val="700"/>
              </a:spcAft>
              <a:buNone/>
            </a:pPr>
            <a:r>
              <a:rPr lang="en-US" sz="1750" dirty="0">
                <a:solidFill>
                  <a:srgbClr val="173E2C"/>
                </a:solidFill>
              </a:rPr>
              <a:t>Freeze the backbone first. Train the compact disease head.</a:t>
            </a:r>
            <a:endParaRPr lang="en-US" sz="1750" dirty="0"/>
          </a:p>
          <a:p>
            <a:pPr indent="0" marL="0">
              <a:spcAft>
                <a:spcPts val="700"/>
              </a:spcAft>
              <a:buNone/>
            </a:pPr>
            <a:r>
              <a:rPr lang="en-US" sz="1750" dirty="0">
                <a:solidFill>
                  <a:srgbClr val="173E2C"/>
                </a:solidFill>
              </a:rPr>
              <a:t>Same partition, seed and input resolution for a controlled architecture comparison.</a:t>
            </a:r>
            <a:endParaRPr lang="en-US" sz="1750" dirty="0"/>
          </a:p>
        </p:txBody>
      </p:sp>
      <p:sp>
        <p:nvSpPr>
          <p:cNvPr id="5" name="Shape 3"/>
          <p:cNvSpPr/>
          <p:nvPr/>
        </p:nvSpPr>
        <p:spPr>
          <a:xfrm>
            <a:off x="594360" y="6309360"/>
            <a:ext cx="10972800" cy="0"/>
          </a:xfrm>
          <a:prstGeom prst="line">
            <a:avLst/>
          </a:prstGeom>
          <a:noFill/>
          <a:ln w="12700">
            <a:solidFill>
              <a:srgbClr val="D6E2C8"/>
            </a:solidFill>
            <a:prstDash val="solid"/>
          </a:ln>
        </p:spPr>
      </p:sp>
      <p:sp>
        <p:nvSpPr>
          <p:cNvPr id="6" name="Text 4"/>
          <p:cNvSpPr/>
          <p:nvPr/>
        </p:nvSpPr>
        <p:spPr>
          <a:xfrm>
            <a:off x="594360" y="6446520"/>
            <a:ext cx="9144000" cy="182880"/>
          </a:xfrm>
          <a:prstGeom prst="rect">
            <a:avLst/>
          </a:prstGeom>
          <a:noFill/>
          <a:ln/>
        </p:spPr>
        <p:txBody>
          <a:bodyPr wrap="square" lIns="0" tIns="0" rIns="0" bIns="0" rtlCol="0" anchor="ctr"/>
          <a:lstStyle/>
          <a:p>
            <a:pPr indent="0" marL="0">
              <a:buNone/>
            </a:pPr>
            <a:r>
              <a:rPr lang="en-US" sz="1000" dirty="0">
                <a:solidFill>
                  <a:srgbClr val="728565"/>
                </a:solidFill>
              </a:rPr>
              <a:t>LeafLens · Deep Learning course project</a:t>
            </a:r>
            <a:endParaRPr lang="en-US" sz="1000" dirty="0"/>
          </a:p>
        </p:txBody>
      </p:sp>
      <p:sp>
        <p:nvSpPr>
          <p:cNvPr id="7" name="Text 5"/>
          <p:cNvSpPr/>
          <p:nvPr/>
        </p:nvSpPr>
        <p:spPr>
          <a:xfrm>
            <a:off x="10607040" y="6446520"/>
            <a:ext cx="914400" cy="182880"/>
          </a:xfrm>
          <a:prstGeom prst="rect">
            <a:avLst/>
          </a:prstGeom>
          <a:noFill/>
          <a:ln/>
        </p:spPr>
        <p:txBody>
          <a:bodyPr wrap="square" lIns="0" tIns="0" rIns="0" bIns="0" rtlCol="0" anchor="ctr"/>
          <a:lstStyle/>
          <a:p>
            <a:pPr algn="r" indent="0" marL="0">
              <a:buNone/>
            </a:pPr>
            <a:r>
              <a:rPr lang="en-US" sz="1000" dirty="0">
                <a:solidFill>
                  <a:srgbClr val="728565"/>
                </a:solidFill>
              </a:rPr>
              <a:t>05 / 12</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EF"/>
        </a:solidFill>
      </p:bgPr>
    </p:bg>
    <p:spTree>
      <p:nvGrpSpPr>
        <p:cNvPr id="1" name=""/>
        <p:cNvGrpSpPr/>
        <p:nvPr/>
      </p:nvGrpSpPr>
      <p:grpSpPr>
        <a:xfrm>
          <a:off x="0" y="0"/>
          <a:ext cx="0" cy="0"/>
          <a:chOff x="0" y="0"/>
          <a:chExt cx="0" cy="0"/>
        </a:xfrm>
      </p:grpSpPr>
      <p:sp>
        <p:nvSpPr>
          <p:cNvPr id="2" name="Text 0"/>
          <p:cNvSpPr/>
          <p:nvPr/>
        </p:nvSpPr>
        <p:spPr>
          <a:xfrm>
            <a:off x="594360" y="320040"/>
            <a:ext cx="10789920" cy="228600"/>
          </a:xfrm>
          <a:prstGeom prst="rect">
            <a:avLst/>
          </a:prstGeom>
          <a:noFill/>
          <a:ln/>
        </p:spPr>
        <p:txBody>
          <a:bodyPr wrap="square" lIns="0" tIns="0" rIns="0" bIns="0" rtlCol="0" anchor="ctr"/>
          <a:lstStyle/>
          <a:p>
            <a:pPr indent="0" marL="0">
              <a:buNone/>
            </a:pPr>
            <a:r>
              <a:rPr lang="en-US" sz="1100" spc="200" kern="0" dirty="0">
                <a:solidFill>
                  <a:srgbClr val="728565"/>
                </a:solidFill>
              </a:rPr>
              <a:t>WEEK 2 · FINE-TUNING</a:t>
            </a:r>
            <a:endParaRPr lang="en-US" sz="1100" dirty="0"/>
          </a:p>
        </p:txBody>
      </p:sp>
      <p:sp>
        <p:nvSpPr>
          <p:cNvPr id="3" name="Text 1"/>
          <p:cNvSpPr/>
          <p:nvPr/>
        </p:nvSpPr>
        <p:spPr>
          <a:xfrm>
            <a:off x="594360" y="868680"/>
            <a:ext cx="10972800" cy="1005840"/>
          </a:xfrm>
          <a:prstGeom prst="rect">
            <a:avLst/>
          </a:prstGeom>
          <a:noFill/>
          <a:ln/>
        </p:spPr>
        <p:txBody>
          <a:bodyPr wrap="square" lIns="0" tIns="0" rIns="0" bIns="0" rtlCol="0" anchor="ctr">
            <a:normAutofit/>
          </a:bodyPr>
          <a:lstStyle/>
          <a:p>
            <a:pPr indent="0" marL="0">
              <a:buNone/>
            </a:pPr>
            <a:r>
              <a:rPr lang="en-US" sz="3100" b="1" dirty="0">
                <a:solidFill>
                  <a:srgbClr val="173E2C"/>
                </a:solidFill>
              </a:rPr>
              <a:t>Adapt carefully. Preserve useful features.</a:t>
            </a:r>
            <a:endParaRPr lang="en-US" sz="3100" dirty="0"/>
          </a:p>
        </p:txBody>
      </p:sp>
      <p:sp>
        <p:nvSpPr>
          <p:cNvPr id="4" name="Text 2"/>
          <p:cNvSpPr/>
          <p:nvPr/>
        </p:nvSpPr>
        <p:spPr>
          <a:xfrm>
            <a:off x="594360" y="2057400"/>
            <a:ext cx="10972800" cy="3931920"/>
          </a:xfrm>
          <a:prstGeom prst="rect">
            <a:avLst/>
          </a:prstGeom>
          <a:noFill/>
          <a:ln/>
        </p:spPr>
        <p:txBody>
          <a:bodyPr wrap="square" lIns="0" tIns="0" rIns="0" bIns="0" rtlCol="0" anchor="t">
            <a:normAutofit/>
          </a:bodyPr>
          <a:lstStyle/>
          <a:p>
            <a:pPr indent="0" marL="0">
              <a:spcAft>
                <a:spcPts val="700"/>
              </a:spcAft>
              <a:buNone/>
            </a:pPr>
            <a:r>
              <a:rPr lang="en-US" sz="1750" dirty="0">
                <a:solidFill>
                  <a:srgbClr val="173E2C"/>
                </a:solidFill>
              </a:rPr>
              <a:t>Classifier only</a:t>
            </a:r>
            <a:endParaRPr lang="en-US" sz="1750" dirty="0"/>
          </a:p>
          <a:p>
            <a:pPr indent="0" marL="0">
              <a:spcAft>
                <a:spcPts val="700"/>
              </a:spcAft>
              <a:buNone/>
            </a:pPr>
            <a:r>
              <a:rPr lang="en-US" sz="1750" dirty="0">
                <a:solidFill>
                  <a:srgbClr val="173E2C"/>
                </a:solidFill>
              </a:rPr>
              <a:t>AdamW · learning rate 1e-3</a:t>
            </a:r>
            <a:endParaRPr lang="en-US" sz="1750" dirty="0"/>
          </a:p>
          <a:p>
            <a:pPr indent="0" marL="0">
              <a:spcAft>
                <a:spcPts val="700"/>
              </a:spcAft>
              <a:buNone/>
            </a:pPr>
            <a:r>
              <a:rPr lang="en-US" sz="1750" dirty="0">
                <a:solidFill>
                  <a:srgbClr val="173E2C"/>
                </a:solidFill>
              </a:rPr>
              <a:t>Final VGG16 block + head</a:t>
            </a:r>
            <a:endParaRPr lang="en-US" sz="1750" dirty="0"/>
          </a:p>
          <a:p>
            <a:pPr indent="0" marL="0">
              <a:spcAft>
                <a:spcPts val="700"/>
              </a:spcAft>
              <a:buNone/>
            </a:pPr>
            <a:r>
              <a:rPr lang="en-US" sz="1750" dirty="0">
                <a:solidFill>
                  <a:srgbClr val="173E2C"/>
                </a:solidFill>
              </a:rPr>
              <a:t>AdamW · learning rate 1e-5</a:t>
            </a:r>
            <a:endParaRPr lang="en-US" sz="1750" dirty="0"/>
          </a:p>
          <a:p>
            <a:pPr indent="0" marL="0">
              <a:spcAft>
                <a:spcPts val="700"/>
              </a:spcAft>
              <a:buNone/>
            </a:pPr>
            <a:r>
              <a:rPr lang="en-US" sz="1750" dirty="0">
                <a:solidFill>
                  <a:srgbClr val="173E2C"/>
                </a:solidFill>
              </a:rPr>
              <a:t>Dropout, weight decay and label smoothing regularize training. Validation selects checkpoints; test images do not.</a:t>
            </a:r>
            <a:endParaRPr lang="en-US" sz="1750" dirty="0"/>
          </a:p>
          <a:p>
            <a:pPr indent="0" marL="0">
              <a:spcAft>
                <a:spcPts val="700"/>
              </a:spcAft>
              <a:buNone/>
            </a:pPr>
            <a:r>
              <a:rPr lang="en-US" sz="1750" dirty="0">
                <a:solidFill>
                  <a:srgbClr val="173E2C"/>
                </a:solidFill>
              </a:rPr>
              <a:t>Early stopping cannot skip the required fine-tuning phase. The best checkpoint may still come from the frozen stage.</a:t>
            </a:r>
            <a:endParaRPr lang="en-US" sz="1750" dirty="0"/>
          </a:p>
        </p:txBody>
      </p:sp>
      <p:sp>
        <p:nvSpPr>
          <p:cNvPr id="5" name="Shape 3"/>
          <p:cNvSpPr/>
          <p:nvPr/>
        </p:nvSpPr>
        <p:spPr>
          <a:xfrm>
            <a:off x="594360" y="6309360"/>
            <a:ext cx="10972800" cy="0"/>
          </a:xfrm>
          <a:prstGeom prst="line">
            <a:avLst/>
          </a:prstGeom>
          <a:noFill/>
          <a:ln w="12700">
            <a:solidFill>
              <a:srgbClr val="D6E2C8"/>
            </a:solidFill>
            <a:prstDash val="solid"/>
          </a:ln>
        </p:spPr>
      </p:sp>
      <p:sp>
        <p:nvSpPr>
          <p:cNvPr id="6" name="Text 4"/>
          <p:cNvSpPr/>
          <p:nvPr/>
        </p:nvSpPr>
        <p:spPr>
          <a:xfrm>
            <a:off x="594360" y="6446520"/>
            <a:ext cx="9144000" cy="182880"/>
          </a:xfrm>
          <a:prstGeom prst="rect">
            <a:avLst/>
          </a:prstGeom>
          <a:noFill/>
          <a:ln/>
        </p:spPr>
        <p:txBody>
          <a:bodyPr wrap="square" lIns="0" tIns="0" rIns="0" bIns="0" rtlCol="0" anchor="ctr"/>
          <a:lstStyle/>
          <a:p>
            <a:pPr indent="0" marL="0">
              <a:buNone/>
            </a:pPr>
            <a:r>
              <a:rPr lang="en-US" sz="1000" dirty="0">
                <a:solidFill>
                  <a:srgbClr val="728565"/>
                </a:solidFill>
              </a:rPr>
              <a:t>LeafLens · Deep Learning course project</a:t>
            </a:r>
            <a:endParaRPr lang="en-US" sz="1000" dirty="0"/>
          </a:p>
        </p:txBody>
      </p:sp>
      <p:sp>
        <p:nvSpPr>
          <p:cNvPr id="7" name="Text 5"/>
          <p:cNvSpPr/>
          <p:nvPr/>
        </p:nvSpPr>
        <p:spPr>
          <a:xfrm>
            <a:off x="10607040" y="6446520"/>
            <a:ext cx="914400" cy="182880"/>
          </a:xfrm>
          <a:prstGeom prst="rect">
            <a:avLst/>
          </a:prstGeom>
          <a:noFill/>
          <a:ln/>
        </p:spPr>
        <p:txBody>
          <a:bodyPr wrap="square" lIns="0" tIns="0" rIns="0" bIns="0" rtlCol="0" anchor="ctr"/>
          <a:lstStyle/>
          <a:p>
            <a:pPr algn="r" indent="0" marL="0">
              <a:buNone/>
            </a:pPr>
            <a:r>
              <a:rPr lang="en-US" sz="1000" dirty="0">
                <a:solidFill>
                  <a:srgbClr val="728565"/>
                </a:solidFill>
              </a:rPr>
              <a:t>06 / 12</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EF"/>
        </a:solidFill>
      </p:bgPr>
    </p:bg>
    <p:spTree>
      <p:nvGrpSpPr>
        <p:cNvPr id="1" name=""/>
        <p:cNvGrpSpPr/>
        <p:nvPr/>
      </p:nvGrpSpPr>
      <p:grpSpPr>
        <a:xfrm>
          <a:off x="0" y="0"/>
          <a:ext cx="0" cy="0"/>
          <a:chOff x="0" y="0"/>
          <a:chExt cx="0" cy="0"/>
        </a:xfrm>
      </p:grpSpPr>
      <p:sp>
        <p:nvSpPr>
          <p:cNvPr id="2" name="Text 0"/>
          <p:cNvSpPr/>
          <p:nvPr/>
        </p:nvSpPr>
        <p:spPr>
          <a:xfrm>
            <a:off x="594360" y="320040"/>
            <a:ext cx="10789920" cy="228600"/>
          </a:xfrm>
          <a:prstGeom prst="rect">
            <a:avLst/>
          </a:prstGeom>
          <a:noFill/>
          <a:ln/>
        </p:spPr>
        <p:txBody>
          <a:bodyPr wrap="square" lIns="0" tIns="0" rIns="0" bIns="0" rtlCol="0" anchor="ctr"/>
          <a:lstStyle/>
          <a:p>
            <a:pPr indent="0" marL="0">
              <a:buNone/>
            </a:pPr>
            <a:r>
              <a:rPr lang="en-US" sz="1100" spc="200" kern="0" dirty="0">
                <a:solidFill>
                  <a:srgbClr val="728565"/>
                </a:solidFill>
              </a:rPr>
              <a:t>WEEK 2 · MEASURED EVALUATION</a:t>
            </a:r>
            <a:endParaRPr lang="en-US" sz="1100" dirty="0"/>
          </a:p>
        </p:txBody>
      </p:sp>
      <p:sp>
        <p:nvSpPr>
          <p:cNvPr id="3" name="Text 1"/>
          <p:cNvSpPr/>
          <p:nvPr/>
        </p:nvSpPr>
        <p:spPr>
          <a:xfrm>
            <a:off x="594360" y="868680"/>
            <a:ext cx="10972800" cy="1005840"/>
          </a:xfrm>
          <a:prstGeom prst="rect">
            <a:avLst/>
          </a:prstGeom>
          <a:noFill/>
          <a:ln/>
        </p:spPr>
        <p:txBody>
          <a:bodyPr wrap="square" lIns="0" tIns="0" rIns="0" bIns="0" rtlCol="0" anchor="ctr">
            <a:normAutofit/>
          </a:bodyPr>
          <a:lstStyle/>
          <a:p>
            <a:pPr indent="0" marL="0">
              <a:buNone/>
            </a:pPr>
            <a:r>
              <a:rPr lang="en-US" sz="3100" b="1" dirty="0">
                <a:solidFill>
                  <a:srgbClr val="173E2C"/>
                </a:solidFill>
              </a:rPr>
              <a:t>Results you can inspect.</a:t>
            </a:r>
            <a:endParaRPr lang="en-US" sz="3100" dirty="0"/>
          </a:p>
        </p:txBody>
      </p:sp>
      <p:graphicFrame>
        <p:nvGraphicFramePr>
          <p:cNvPr id="4" name="Chart 0" descr=""/>
          <p:cNvGraphicFramePr/>
          <p:nvPr/>
        </p:nvGraphicFramePr>
        <p:xfrm>
          <a:off x="731520" y="2057400"/>
          <a:ext cx="685800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7955280" y="2286000"/>
            <a:ext cx="3474720" cy="3200400"/>
          </a:xfrm>
          <a:prstGeom prst="rect">
            <a:avLst/>
          </a:prstGeom>
          <a:noFill/>
          <a:ln/>
        </p:spPr>
        <p:txBody>
          <a:bodyPr wrap="square" lIns="0" tIns="0" rIns="0" bIns="0" rtlCol="0" anchor="ctr"/>
          <a:lstStyle/>
          <a:p>
            <a:pPr indent="0" marL="0">
              <a:buNone/>
            </a:pPr>
            <a:r>
              <a:rPr lang="en-US" sz="1800" dirty="0">
                <a:solidFill>
                  <a:srgbClr val="173E2C"/>
                </a:solidFill>
              </a:rPr>
              <a:t>225 test images</a:t>
            </a:r>
            <a:endParaRPr lang="en-US" sz="1800" dirty="0"/>
          </a:p>
          <a:p>
            <a:pPr indent="0" marL="0">
              <a:buNone/>
            </a:pPr>
            <a:r>
              <a:rPr lang="en-US" sz="1800" dirty="0">
                <a:solidFill>
                  <a:srgbClr val="173E2C"/>
                </a:solidFill>
              </a:rPr>
              <a:t>128 × 128 input resolution</a:t>
            </a:r>
            <a:endParaRPr lang="en-US" sz="1800" dirty="0"/>
          </a:p>
          <a:p>
            <a:pPr indent="0" marL="0">
              <a:buNone/>
            </a:pPr>
            <a:r>
              <a:rPr lang="en-US" sz="1800" dirty="0">
                <a:solidFill>
                  <a:srgbClr val="173E2C"/>
                </a:solidFill>
              </a:rPr>
              <a:t>100 images per class</a:t>
            </a:r>
            <a:endParaRPr lang="en-US" sz="1800" dirty="0"/>
          </a:p>
          <a:p>
            <a:pPr indent="0" marL="0">
              <a:buNone/>
            </a:pPr>
            <a:r>
              <a:rPr lang="en-US" sz="1800" dirty="0">
                <a:solidFill>
                  <a:srgbClr val="173E2C"/>
                </a:solidFill>
              </a:rPr>
              <a:t>One seed; controlled backgrounds</a:t>
            </a:r>
            <a:endParaRPr lang="en-US" sz="1800" dirty="0"/>
          </a:p>
          <a:p>
            <a:pPr indent="0" marL="0">
              <a:buNone/>
            </a:pPr>
            <a:endParaRPr lang="en-US" sz="1800" dirty="0"/>
          </a:p>
          <a:p>
            <a:pPr indent="0" marL="0">
              <a:buNone/>
            </a:pPr>
            <a:r>
              <a:rPr lang="en-US" sz="1800" dirty="0">
                <a:solidFill>
                  <a:srgbClr val="173E2C"/>
                </a:solidFill>
              </a:rPr>
              <a:t>CNN outperformed VGG16 in this run.</a:t>
            </a:r>
            <a:endParaRPr lang="en-US" sz="1800" dirty="0"/>
          </a:p>
          <a:p>
            <a:pPr indent="0" marL="0">
              <a:buNone/>
            </a:pPr>
            <a:r>
              <a:rPr lang="en-US" sz="1800" dirty="0">
                <a:solidFill>
                  <a:srgbClr val="173E2C"/>
                </a:solidFill>
              </a:rPr>
              <a:t>Field accuracy remains unverified.</a:t>
            </a:r>
            <a:endParaRPr lang="en-US" sz="1800" dirty="0"/>
          </a:p>
        </p:txBody>
      </p:sp>
      <p:sp>
        <p:nvSpPr>
          <p:cNvPr id="6" name="Shape 3"/>
          <p:cNvSpPr/>
          <p:nvPr/>
        </p:nvSpPr>
        <p:spPr>
          <a:xfrm>
            <a:off x="594360" y="6309360"/>
            <a:ext cx="10972800" cy="0"/>
          </a:xfrm>
          <a:prstGeom prst="line">
            <a:avLst/>
          </a:prstGeom>
          <a:noFill/>
          <a:ln w="12700">
            <a:solidFill>
              <a:srgbClr val="D6E2C8"/>
            </a:solidFill>
            <a:prstDash val="solid"/>
          </a:ln>
        </p:spPr>
      </p:sp>
      <p:sp>
        <p:nvSpPr>
          <p:cNvPr id="7" name="Text 4"/>
          <p:cNvSpPr/>
          <p:nvPr/>
        </p:nvSpPr>
        <p:spPr>
          <a:xfrm>
            <a:off x="594360" y="6446520"/>
            <a:ext cx="9144000" cy="182880"/>
          </a:xfrm>
          <a:prstGeom prst="rect">
            <a:avLst/>
          </a:prstGeom>
          <a:noFill/>
          <a:ln/>
        </p:spPr>
        <p:txBody>
          <a:bodyPr wrap="square" lIns="0" tIns="0" rIns="0" bIns="0" rtlCol="0" anchor="ctr"/>
          <a:lstStyle/>
          <a:p>
            <a:pPr indent="0" marL="0">
              <a:buNone/>
            </a:pPr>
            <a:r>
              <a:rPr lang="en-US" sz="1000" dirty="0">
                <a:solidFill>
                  <a:srgbClr val="728565"/>
                </a:solidFill>
              </a:rPr>
              <a:t>LeafLens · Deep Learning course project</a:t>
            </a:r>
            <a:endParaRPr lang="en-US" sz="1000" dirty="0"/>
          </a:p>
        </p:txBody>
      </p:sp>
      <p:sp>
        <p:nvSpPr>
          <p:cNvPr id="8" name="Text 5"/>
          <p:cNvSpPr/>
          <p:nvPr/>
        </p:nvSpPr>
        <p:spPr>
          <a:xfrm>
            <a:off x="10607040" y="6446520"/>
            <a:ext cx="914400" cy="182880"/>
          </a:xfrm>
          <a:prstGeom prst="rect">
            <a:avLst/>
          </a:prstGeom>
          <a:noFill/>
          <a:ln/>
        </p:spPr>
        <p:txBody>
          <a:bodyPr wrap="square" lIns="0" tIns="0" rIns="0" bIns="0" rtlCol="0" anchor="ctr"/>
          <a:lstStyle/>
          <a:p>
            <a:pPr algn="r" indent="0" marL="0">
              <a:buNone/>
            </a:pPr>
            <a:r>
              <a:rPr lang="en-US" sz="1000" dirty="0">
                <a:solidFill>
                  <a:srgbClr val="728565"/>
                </a:solidFill>
              </a:rPr>
              <a:t>07 / 12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EF"/>
        </a:solidFill>
      </p:bgPr>
    </p:bg>
    <p:spTree>
      <p:nvGrpSpPr>
        <p:cNvPr id="1" name=""/>
        <p:cNvGrpSpPr/>
        <p:nvPr/>
      </p:nvGrpSpPr>
      <p:grpSpPr>
        <a:xfrm>
          <a:off x="0" y="0"/>
          <a:ext cx="0" cy="0"/>
          <a:chOff x="0" y="0"/>
          <a:chExt cx="0" cy="0"/>
        </a:xfrm>
      </p:grpSpPr>
      <p:sp>
        <p:nvSpPr>
          <p:cNvPr id="2" name="Text 0"/>
          <p:cNvSpPr/>
          <p:nvPr/>
        </p:nvSpPr>
        <p:spPr>
          <a:xfrm>
            <a:off x="594360" y="320040"/>
            <a:ext cx="10789920" cy="228600"/>
          </a:xfrm>
          <a:prstGeom prst="rect">
            <a:avLst/>
          </a:prstGeom>
          <a:noFill/>
          <a:ln/>
        </p:spPr>
        <p:txBody>
          <a:bodyPr wrap="square" lIns="0" tIns="0" rIns="0" bIns="0" rtlCol="0" anchor="ctr"/>
          <a:lstStyle/>
          <a:p>
            <a:pPr indent="0" marL="0">
              <a:buNone/>
            </a:pPr>
            <a:r>
              <a:rPr lang="en-US" sz="1100" spc="200" kern="0" dirty="0">
                <a:solidFill>
                  <a:srgbClr val="728565"/>
                </a:solidFill>
              </a:rPr>
              <a:t>WEEK 2 · VISUALIZATION</a:t>
            </a:r>
            <a:endParaRPr lang="en-US" sz="1100" dirty="0"/>
          </a:p>
        </p:txBody>
      </p:sp>
      <p:sp>
        <p:nvSpPr>
          <p:cNvPr id="3" name="Text 1"/>
          <p:cNvSpPr/>
          <p:nvPr/>
        </p:nvSpPr>
        <p:spPr>
          <a:xfrm>
            <a:off x="594360" y="868680"/>
            <a:ext cx="10972800" cy="1005840"/>
          </a:xfrm>
          <a:prstGeom prst="rect">
            <a:avLst/>
          </a:prstGeom>
          <a:noFill/>
          <a:ln/>
        </p:spPr>
        <p:txBody>
          <a:bodyPr wrap="square" lIns="0" tIns="0" rIns="0" bIns="0" rtlCol="0" anchor="ctr">
            <a:normAutofit/>
          </a:bodyPr>
          <a:lstStyle/>
          <a:p>
            <a:pPr indent="0" marL="0">
              <a:buNone/>
            </a:pPr>
            <a:r>
              <a:rPr lang="en-US" sz="3100" b="1" dirty="0">
                <a:solidFill>
                  <a:srgbClr val="173E2C"/>
                </a:solidFill>
              </a:rPr>
              <a:t>Look at the mistakes, too.</a:t>
            </a:r>
            <a:endParaRPr lang="en-US" sz="3100" dirty="0"/>
          </a:p>
        </p:txBody>
      </p:sp>
      <p:pic>
        <p:nvPicPr>
          <p:cNvPr id="4" name="Image 0" descr="E:\Projects\S7 Deep Learning\leaflens\docs\results\vgg16-training-curves.png">    </p:cNvPr>
          <p:cNvPicPr>
            <a:picLocks noChangeAspect="1"/>
          </p:cNvPicPr>
          <p:nvPr/>
        </p:nvPicPr>
        <p:blipFill>
          <a:blip r:embed="rId1"/>
          <a:stretch>
            <a:fillRect/>
          </a:stretch>
        </p:blipFill>
        <p:spPr>
          <a:xfrm>
            <a:off x="594360" y="2711196"/>
            <a:ext cx="5303520" cy="2121408"/>
          </a:xfrm>
          <a:prstGeom prst="rect">
            <a:avLst/>
          </a:prstGeom>
        </p:spPr>
      </p:pic>
      <p:pic>
        <p:nvPicPr>
          <p:cNvPr id="5" name="Image 1" descr="E:\Projects\S7 Deep Learning\leaflens\docs\results\vgg16-confusion-matrix.png">    </p:cNvPr>
          <p:cNvPicPr>
            <a:picLocks noChangeAspect="1"/>
          </p:cNvPicPr>
          <p:nvPr/>
        </p:nvPicPr>
        <p:blipFill>
          <a:blip r:embed="rId2"/>
          <a:stretch>
            <a:fillRect/>
          </a:stretch>
        </p:blipFill>
        <p:spPr>
          <a:xfrm>
            <a:off x="6752844" y="2103120"/>
            <a:ext cx="4005072" cy="3337560"/>
          </a:xfrm>
          <a:prstGeom prst="rect">
            <a:avLst/>
          </a:prstGeom>
        </p:spPr>
      </p:pic>
      <p:sp>
        <p:nvSpPr>
          <p:cNvPr id="6" name="Text 2"/>
          <p:cNvSpPr/>
          <p:nvPr/>
        </p:nvSpPr>
        <p:spPr>
          <a:xfrm>
            <a:off x="594360" y="5577840"/>
            <a:ext cx="10972800" cy="548640"/>
          </a:xfrm>
          <a:prstGeom prst="rect">
            <a:avLst/>
          </a:prstGeom>
          <a:noFill/>
          <a:ln/>
        </p:spPr>
        <p:txBody>
          <a:bodyPr wrap="square" lIns="0" tIns="0" rIns="0" bIns="0" rtlCol="0" anchor="ctr">
            <a:normAutofit/>
          </a:bodyPr>
          <a:lstStyle/>
          <a:p>
            <a:pPr indent="0" marL="0">
              <a:buNone/>
            </a:pPr>
            <a:r>
              <a:rPr lang="en-US" sz="1300" dirty="0">
                <a:solidFill>
                  <a:srgbClr val="627954"/>
                </a:solidFill>
              </a:rPr>
              <a:t>Training/validation curves expose overfitting. The confusion matrix shows which true classes are mistaken for other classes.</a:t>
            </a:r>
            <a:endParaRPr lang="en-US" sz="1300" dirty="0"/>
          </a:p>
        </p:txBody>
      </p:sp>
      <p:sp>
        <p:nvSpPr>
          <p:cNvPr id="7" name="Shape 3"/>
          <p:cNvSpPr/>
          <p:nvPr/>
        </p:nvSpPr>
        <p:spPr>
          <a:xfrm>
            <a:off x="594360" y="6309360"/>
            <a:ext cx="10972800" cy="0"/>
          </a:xfrm>
          <a:prstGeom prst="line">
            <a:avLst/>
          </a:prstGeom>
          <a:noFill/>
          <a:ln w="12700">
            <a:solidFill>
              <a:srgbClr val="D6E2C8"/>
            </a:solidFill>
            <a:prstDash val="solid"/>
          </a:ln>
        </p:spPr>
      </p:sp>
      <p:sp>
        <p:nvSpPr>
          <p:cNvPr id="8" name="Text 4"/>
          <p:cNvSpPr/>
          <p:nvPr/>
        </p:nvSpPr>
        <p:spPr>
          <a:xfrm>
            <a:off x="594360" y="6446520"/>
            <a:ext cx="9144000" cy="182880"/>
          </a:xfrm>
          <a:prstGeom prst="rect">
            <a:avLst/>
          </a:prstGeom>
          <a:noFill/>
          <a:ln/>
        </p:spPr>
        <p:txBody>
          <a:bodyPr wrap="square" lIns="0" tIns="0" rIns="0" bIns="0" rtlCol="0" anchor="ctr"/>
          <a:lstStyle/>
          <a:p>
            <a:pPr indent="0" marL="0">
              <a:buNone/>
            </a:pPr>
            <a:r>
              <a:rPr lang="en-US" sz="1000" dirty="0">
                <a:solidFill>
                  <a:srgbClr val="728565"/>
                </a:solidFill>
              </a:rPr>
              <a:t>LeafLens · Deep Learning course project</a:t>
            </a:r>
            <a:endParaRPr lang="en-US" sz="1000" dirty="0"/>
          </a:p>
        </p:txBody>
      </p:sp>
      <p:sp>
        <p:nvSpPr>
          <p:cNvPr id="9" name="Text 5"/>
          <p:cNvSpPr/>
          <p:nvPr/>
        </p:nvSpPr>
        <p:spPr>
          <a:xfrm>
            <a:off x="10607040" y="6446520"/>
            <a:ext cx="914400" cy="182880"/>
          </a:xfrm>
          <a:prstGeom prst="rect">
            <a:avLst/>
          </a:prstGeom>
          <a:noFill/>
          <a:ln/>
        </p:spPr>
        <p:txBody>
          <a:bodyPr wrap="square" lIns="0" tIns="0" rIns="0" bIns="0" rtlCol="0" anchor="ctr"/>
          <a:lstStyle/>
          <a:p>
            <a:pPr algn="r" indent="0" marL="0">
              <a:buNone/>
            </a:pPr>
            <a:r>
              <a:rPr lang="en-US" sz="1000" dirty="0">
                <a:solidFill>
                  <a:srgbClr val="728565"/>
                </a:solidFill>
              </a:rPr>
              <a:t>08 / 12</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8EF"/>
        </a:solidFill>
      </p:bgPr>
    </p:bg>
    <p:spTree>
      <p:nvGrpSpPr>
        <p:cNvPr id="1" name=""/>
        <p:cNvGrpSpPr/>
        <p:nvPr/>
      </p:nvGrpSpPr>
      <p:grpSpPr>
        <a:xfrm>
          <a:off x="0" y="0"/>
          <a:ext cx="0" cy="0"/>
          <a:chOff x="0" y="0"/>
          <a:chExt cx="0" cy="0"/>
        </a:xfrm>
      </p:grpSpPr>
      <p:sp>
        <p:nvSpPr>
          <p:cNvPr id="2" name="Text 0"/>
          <p:cNvSpPr/>
          <p:nvPr/>
        </p:nvSpPr>
        <p:spPr>
          <a:xfrm>
            <a:off x="594360" y="320040"/>
            <a:ext cx="10789920" cy="228600"/>
          </a:xfrm>
          <a:prstGeom prst="rect">
            <a:avLst/>
          </a:prstGeom>
          <a:noFill/>
          <a:ln/>
        </p:spPr>
        <p:txBody>
          <a:bodyPr wrap="square" lIns="0" tIns="0" rIns="0" bIns="0" rtlCol="0" anchor="ctr"/>
          <a:lstStyle/>
          <a:p>
            <a:pPr indent="0" marL="0">
              <a:buNone/>
            </a:pPr>
            <a:r>
              <a:rPr lang="en-US" sz="1100" spc="200" kern="0" dirty="0">
                <a:solidFill>
                  <a:srgbClr val="728565"/>
                </a:solidFill>
              </a:rPr>
              <a:t>EXPLAINABILITY</a:t>
            </a:r>
            <a:endParaRPr lang="en-US" sz="1100" dirty="0"/>
          </a:p>
        </p:txBody>
      </p:sp>
      <p:sp>
        <p:nvSpPr>
          <p:cNvPr id="3" name="Text 1"/>
          <p:cNvSpPr/>
          <p:nvPr/>
        </p:nvSpPr>
        <p:spPr>
          <a:xfrm>
            <a:off x="594360" y="868680"/>
            <a:ext cx="10972800" cy="1005840"/>
          </a:xfrm>
          <a:prstGeom prst="rect">
            <a:avLst/>
          </a:prstGeom>
          <a:noFill/>
          <a:ln/>
        </p:spPr>
        <p:txBody>
          <a:bodyPr wrap="square" lIns="0" tIns="0" rIns="0" bIns="0" rtlCol="0" anchor="ctr">
            <a:normAutofit/>
          </a:bodyPr>
          <a:lstStyle/>
          <a:p>
            <a:pPr indent="0" marL="0">
              <a:buNone/>
            </a:pPr>
            <a:r>
              <a:rPr lang="en-US" sz="3100" b="1" dirty="0">
                <a:solidFill>
                  <a:srgbClr val="173E2C"/>
                </a:solidFill>
              </a:rPr>
              <a:t>Where is the model looking?</a:t>
            </a:r>
            <a:endParaRPr lang="en-US" sz="3100" dirty="0"/>
          </a:p>
        </p:txBody>
      </p:sp>
      <p:sp>
        <p:nvSpPr>
          <p:cNvPr id="4" name="Text 2"/>
          <p:cNvSpPr/>
          <p:nvPr/>
        </p:nvSpPr>
        <p:spPr>
          <a:xfrm>
            <a:off x="594360" y="2057400"/>
            <a:ext cx="10972800" cy="3931920"/>
          </a:xfrm>
          <a:prstGeom prst="rect">
            <a:avLst/>
          </a:prstGeom>
          <a:noFill/>
          <a:ln/>
        </p:spPr>
        <p:txBody>
          <a:bodyPr wrap="square" lIns="0" tIns="0" rIns="0" bIns="0" rtlCol="0" anchor="t">
            <a:normAutofit/>
          </a:bodyPr>
          <a:lstStyle/>
          <a:p>
            <a:pPr indent="0" marL="0">
              <a:spcAft>
                <a:spcPts val="700"/>
              </a:spcAft>
              <a:buNone/>
            </a:pPr>
            <a:r>
              <a:rPr lang="en-US" sz="1750" dirty="0">
                <a:solidFill>
                  <a:srgbClr val="173E2C"/>
                </a:solidFill>
              </a:rPr>
              <a:t>Grad-CAM weights final convolutional activations by class gradients, rectifies the combined map, and overlays it on the photograph.</a:t>
            </a:r>
            <a:endParaRPr lang="en-US" sz="1750" dirty="0"/>
          </a:p>
          <a:p>
            <a:pPr indent="0" marL="0">
              <a:spcAft>
                <a:spcPts val="700"/>
              </a:spcAft>
              <a:buNone/>
            </a:pPr>
            <a:r>
              <a:rPr lang="en-US" sz="1750" dirty="0">
                <a:solidFill>
                  <a:srgbClr val="173E2C"/>
                </a:solidFill>
              </a:rPr>
              <a:t>Inspect</a:t>
            </a:r>
            <a:endParaRPr lang="en-US" sz="1750" dirty="0"/>
          </a:p>
          <a:p>
            <a:pPr indent="0" marL="0">
              <a:spcAft>
                <a:spcPts val="700"/>
              </a:spcAft>
              <a:buNone/>
            </a:pPr>
            <a:r>
              <a:rPr lang="en-US" sz="1750" dirty="0">
                <a:solidFill>
                  <a:srgbClr val="173E2C"/>
                </a:solidFill>
              </a:rPr>
              <a:t>See regions influencing the selected class.</a:t>
            </a:r>
            <a:endParaRPr lang="en-US" sz="1750" dirty="0"/>
          </a:p>
          <a:p>
            <a:pPr indent="0" marL="0">
              <a:spcAft>
                <a:spcPts val="700"/>
              </a:spcAft>
              <a:buNone/>
            </a:pPr>
            <a:r>
              <a:rPr lang="en-US" sz="1750" dirty="0">
                <a:solidFill>
                  <a:srgbClr val="173E2C"/>
                </a:solidFill>
              </a:rPr>
              <a:t>Question</a:t>
            </a:r>
            <a:endParaRPr lang="en-US" sz="1750" dirty="0"/>
          </a:p>
          <a:p>
            <a:pPr indent="0" marL="0">
              <a:spcAft>
                <a:spcPts val="700"/>
              </a:spcAft>
              <a:buNone/>
            </a:pPr>
            <a:r>
              <a:rPr lang="en-US" sz="1750" dirty="0">
                <a:solidFill>
                  <a:srgbClr val="173E2C"/>
                </a:solidFill>
              </a:rPr>
              <a:t>Check whether backgrounds attract attention.</a:t>
            </a:r>
            <a:endParaRPr lang="en-US" sz="1750" dirty="0"/>
          </a:p>
          <a:p>
            <a:pPr indent="0" marL="0">
              <a:spcAft>
                <a:spcPts val="700"/>
              </a:spcAft>
              <a:buNone/>
            </a:pPr>
            <a:r>
              <a:rPr lang="en-US" sz="1750" dirty="0">
                <a:solidFill>
                  <a:srgbClr val="173E2C"/>
                </a:solidFill>
              </a:rPr>
              <a:t>Interpret carefully</a:t>
            </a:r>
            <a:endParaRPr lang="en-US" sz="1750" dirty="0"/>
          </a:p>
          <a:p>
            <a:pPr indent="0" marL="0">
              <a:spcAft>
                <a:spcPts val="700"/>
              </a:spcAft>
              <a:buNone/>
            </a:pPr>
            <a:r>
              <a:rPr lang="en-US" sz="1750" dirty="0">
                <a:solidFill>
                  <a:srgbClr val="173E2C"/>
                </a:solidFill>
              </a:rPr>
              <a:t>Attention is not lesion segmentation, severity or proof of correctness.</a:t>
            </a:r>
            <a:endParaRPr lang="en-US" sz="1750" dirty="0"/>
          </a:p>
        </p:txBody>
      </p:sp>
      <p:sp>
        <p:nvSpPr>
          <p:cNvPr id="5" name="Shape 3"/>
          <p:cNvSpPr/>
          <p:nvPr/>
        </p:nvSpPr>
        <p:spPr>
          <a:xfrm>
            <a:off x="594360" y="6309360"/>
            <a:ext cx="10972800" cy="0"/>
          </a:xfrm>
          <a:prstGeom prst="line">
            <a:avLst/>
          </a:prstGeom>
          <a:noFill/>
          <a:ln w="12700">
            <a:solidFill>
              <a:srgbClr val="D6E2C8"/>
            </a:solidFill>
            <a:prstDash val="solid"/>
          </a:ln>
        </p:spPr>
      </p:sp>
      <p:sp>
        <p:nvSpPr>
          <p:cNvPr id="6" name="Text 4"/>
          <p:cNvSpPr/>
          <p:nvPr/>
        </p:nvSpPr>
        <p:spPr>
          <a:xfrm>
            <a:off x="594360" y="6446520"/>
            <a:ext cx="9144000" cy="182880"/>
          </a:xfrm>
          <a:prstGeom prst="rect">
            <a:avLst/>
          </a:prstGeom>
          <a:noFill/>
          <a:ln/>
        </p:spPr>
        <p:txBody>
          <a:bodyPr wrap="square" lIns="0" tIns="0" rIns="0" bIns="0" rtlCol="0" anchor="ctr"/>
          <a:lstStyle/>
          <a:p>
            <a:pPr indent="0" marL="0">
              <a:buNone/>
            </a:pPr>
            <a:r>
              <a:rPr lang="en-US" sz="1000" dirty="0">
                <a:solidFill>
                  <a:srgbClr val="728565"/>
                </a:solidFill>
              </a:rPr>
              <a:t>LeafLens · Deep Learning course project</a:t>
            </a:r>
            <a:endParaRPr lang="en-US" sz="1000" dirty="0"/>
          </a:p>
        </p:txBody>
      </p:sp>
      <p:sp>
        <p:nvSpPr>
          <p:cNvPr id="7" name="Text 5"/>
          <p:cNvSpPr/>
          <p:nvPr/>
        </p:nvSpPr>
        <p:spPr>
          <a:xfrm>
            <a:off x="10607040" y="6446520"/>
            <a:ext cx="914400" cy="182880"/>
          </a:xfrm>
          <a:prstGeom prst="rect">
            <a:avLst/>
          </a:prstGeom>
          <a:noFill/>
          <a:ln/>
        </p:spPr>
        <p:txBody>
          <a:bodyPr wrap="square" lIns="0" tIns="0" rIns="0" bIns="0" rtlCol="0" anchor="ctr"/>
          <a:lstStyle/>
          <a:p>
            <a:pPr algn="r" indent="0" marL="0">
              <a:buNone/>
            </a:pPr>
            <a:r>
              <a:rPr lang="en-US" sz="1000" dirty="0">
                <a:solidFill>
                  <a:srgbClr val="728565"/>
                </a:solidFill>
              </a:rPr>
              <a:t>09 / 12</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EF"/>
        </a:solidFill>
      </p:bgPr>
    </p:bg>
    <p:spTree>
      <p:nvGrpSpPr>
        <p:cNvPr id="1" name=""/>
        <p:cNvGrpSpPr/>
        <p:nvPr/>
      </p:nvGrpSpPr>
      <p:grpSpPr>
        <a:xfrm>
          <a:off x="0" y="0"/>
          <a:ext cx="0" cy="0"/>
          <a:chOff x="0" y="0"/>
          <a:chExt cx="0" cy="0"/>
        </a:xfrm>
      </p:grpSpPr>
      <p:sp>
        <p:nvSpPr>
          <p:cNvPr id="2" name="Text 0"/>
          <p:cNvSpPr/>
          <p:nvPr/>
        </p:nvSpPr>
        <p:spPr>
          <a:xfrm>
            <a:off x="594360" y="320040"/>
            <a:ext cx="10789920" cy="228600"/>
          </a:xfrm>
          <a:prstGeom prst="rect">
            <a:avLst/>
          </a:prstGeom>
          <a:noFill/>
          <a:ln/>
        </p:spPr>
        <p:txBody>
          <a:bodyPr wrap="square" lIns="0" tIns="0" rIns="0" bIns="0" rtlCol="0" anchor="ctr"/>
          <a:lstStyle/>
          <a:p>
            <a:pPr indent="0" marL="0">
              <a:buNone/>
            </a:pPr>
            <a:r>
              <a:rPr lang="en-US" sz="1100" spc="200" kern="0" dirty="0">
                <a:solidFill>
                  <a:srgbClr val="728565"/>
                </a:solidFill>
              </a:rPr>
              <a:t>THE INTERFACE</a:t>
            </a:r>
            <a:endParaRPr lang="en-US" sz="1100" dirty="0"/>
          </a:p>
        </p:txBody>
      </p:sp>
      <p:sp>
        <p:nvSpPr>
          <p:cNvPr id="3" name="Text 1"/>
          <p:cNvSpPr/>
          <p:nvPr/>
        </p:nvSpPr>
        <p:spPr>
          <a:xfrm>
            <a:off x="594360" y="868680"/>
            <a:ext cx="10972800" cy="1005840"/>
          </a:xfrm>
          <a:prstGeom prst="rect">
            <a:avLst/>
          </a:prstGeom>
          <a:noFill/>
          <a:ln/>
        </p:spPr>
        <p:txBody>
          <a:bodyPr wrap="square" lIns="0" tIns="0" rIns="0" bIns="0" rtlCol="0" anchor="ctr">
            <a:normAutofit/>
          </a:bodyPr>
          <a:lstStyle/>
          <a:p>
            <a:pPr indent="0" marL="0">
              <a:buNone/>
            </a:pPr>
            <a:r>
              <a:rPr lang="en-US" sz="3100" b="1" dirty="0">
                <a:solidFill>
                  <a:srgbClr val="173E2C"/>
                </a:solidFill>
              </a:rPr>
              <a:t>A crop health field station.</a:t>
            </a:r>
            <a:endParaRPr lang="en-US" sz="3100" dirty="0"/>
          </a:p>
        </p:txBody>
      </p:sp>
      <p:pic>
        <p:nvPicPr>
          <p:cNvPr id="4" name="Image 0" descr="E:\Projects\S7 Deep Learning\leaflens\docs\screenshots\diagnose-desktop.png">    </p:cNvPr>
          <p:cNvPicPr>
            <a:picLocks noChangeAspect="1"/>
          </p:cNvPicPr>
          <p:nvPr/>
        </p:nvPicPr>
        <p:blipFill>
          <a:blip r:embed="rId1"/>
          <a:stretch>
            <a:fillRect/>
          </a:stretch>
        </p:blipFill>
        <p:spPr>
          <a:xfrm>
            <a:off x="4146495" y="2103120"/>
            <a:ext cx="3685649" cy="3337560"/>
          </a:xfrm>
          <a:prstGeom prst="rect">
            <a:avLst/>
          </a:prstGeom>
        </p:spPr>
      </p:pic>
      <p:sp>
        <p:nvSpPr>
          <p:cNvPr id="5" name="Text 2"/>
          <p:cNvSpPr/>
          <p:nvPr/>
        </p:nvSpPr>
        <p:spPr>
          <a:xfrm>
            <a:off x="594360" y="5577840"/>
            <a:ext cx="10972800" cy="548640"/>
          </a:xfrm>
          <a:prstGeom prst="rect">
            <a:avLst/>
          </a:prstGeom>
          <a:noFill/>
          <a:ln/>
        </p:spPr>
        <p:txBody>
          <a:bodyPr wrap="square" lIns="0" tIns="0" rIns="0" bIns="0" rtlCol="0" anchor="ctr">
            <a:normAutofit/>
          </a:bodyPr>
          <a:lstStyle/>
          <a:p>
            <a:pPr indent="0" marL="0">
              <a:buNone/>
            </a:pPr>
            <a:r>
              <a:rPr lang="en-US" sz="1300" dirty="0">
                <a:solidFill>
                  <a:srgbClr val="627954"/>
                </a:solidFill>
              </a:rPr>
              <a:t>Diagnosis · disease atlas · measured model lab · local field notes</a:t>
            </a:r>
            <a:endParaRPr lang="en-US" sz="1300" dirty="0"/>
          </a:p>
        </p:txBody>
      </p:sp>
      <p:sp>
        <p:nvSpPr>
          <p:cNvPr id="6" name="Shape 3"/>
          <p:cNvSpPr/>
          <p:nvPr/>
        </p:nvSpPr>
        <p:spPr>
          <a:xfrm>
            <a:off x="594360" y="6309360"/>
            <a:ext cx="10972800" cy="0"/>
          </a:xfrm>
          <a:prstGeom prst="line">
            <a:avLst/>
          </a:prstGeom>
          <a:noFill/>
          <a:ln w="12700">
            <a:solidFill>
              <a:srgbClr val="D6E2C8"/>
            </a:solidFill>
            <a:prstDash val="solid"/>
          </a:ln>
        </p:spPr>
      </p:sp>
      <p:sp>
        <p:nvSpPr>
          <p:cNvPr id="7" name="Text 4"/>
          <p:cNvSpPr/>
          <p:nvPr/>
        </p:nvSpPr>
        <p:spPr>
          <a:xfrm>
            <a:off x="594360" y="6446520"/>
            <a:ext cx="9144000" cy="182880"/>
          </a:xfrm>
          <a:prstGeom prst="rect">
            <a:avLst/>
          </a:prstGeom>
          <a:noFill/>
          <a:ln/>
        </p:spPr>
        <p:txBody>
          <a:bodyPr wrap="square" lIns="0" tIns="0" rIns="0" bIns="0" rtlCol="0" anchor="ctr"/>
          <a:lstStyle/>
          <a:p>
            <a:pPr indent="0" marL="0">
              <a:buNone/>
            </a:pPr>
            <a:r>
              <a:rPr lang="en-US" sz="1000" dirty="0">
                <a:solidFill>
                  <a:srgbClr val="728565"/>
                </a:solidFill>
              </a:rPr>
              <a:t>LeafLens · Deep Learning course project</a:t>
            </a:r>
            <a:endParaRPr lang="en-US" sz="1000" dirty="0"/>
          </a:p>
        </p:txBody>
      </p:sp>
      <p:sp>
        <p:nvSpPr>
          <p:cNvPr id="8" name="Text 5"/>
          <p:cNvSpPr/>
          <p:nvPr/>
        </p:nvSpPr>
        <p:spPr>
          <a:xfrm>
            <a:off x="10607040" y="6446520"/>
            <a:ext cx="914400" cy="182880"/>
          </a:xfrm>
          <a:prstGeom prst="rect">
            <a:avLst/>
          </a:prstGeom>
          <a:noFill/>
          <a:ln/>
        </p:spPr>
        <p:txBody>
          <a:bodyPr wrap="square" lIns="0" tIns="0" rIns="0" bIns="0" rtlCol="0" anchor="ctr"/>
          <a:lstStyle/>
          <a:p>
            <a:pPr algn="r" indent="0" marL="0">
              <a:buNone/>
            </a:pPr>
            <a:r>
              <a:rPr lang="en-US" sz="1000" dirty="0">
                <a:solidFill>
                  <a:srgbClr val="728565"/>
                </a:solidFill>
              </a:rPr>
              <a:t>10 / 12</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EF"/>
        </a:solidFill>
      </p:bgPr>
    </p:bg>
    <p:spTree>
      <p:nvGrpSpPr>
        <p:cNvPr id="1" name=""/>
        <p:cNvGrpSpPr/>
        <p:nvPr/>
      </p:nvGrpSpPr>
      <p:grpSpPr>
        <a:xfrm>
          <a:off x="0" y="0"/>
          <a:ext cx="0" cy="0"/>
          <a:chOff x="0" y="0"/>
          <a:chExt cx="0" cy="0"/>
        </a:xfrm>
      </p:grpSpPr>
      <p:sp>
        <p:nvSpPr>
          <p:cNvPr id="2" name="Text 0"/>
          <p:cNvSpPr/>
          <p:nvPr/>
        </p:nvSpPr>
        <p:spPr>
          <a:xfrm>
            <a:off x="594360" y="320040"/>
            <a:ext cx="10789920" cy="228600"/>
          </a:xfrm>
          <a:prstGeom prst="rect">
            <a:avLst/>
          </a:prstGeom>
          <a:noFill/>
          <a:ln/>
        </p:spPr>
        <p:txBody>
          <a:bodyPr wrap="square" lIns="0" tIns="0" rIns="0" bIns="0" rtlCol="0" anchor="ctr"/>
          <a:lstStyle/>
          <a:p>
            <a:pPr indent="0" marL="0">
              <a:buNone/>
            </a:pPr>
            <a:r>
              <a:rPr lang="en-US" sz="1100" spc="200" kern="0" dirty="0">
                <a:solidFill>
                  <a:srgbClr val="728565"/>
                </a:solidFill>
              </a:rPr>
              <a:t>SOCIAL RELEVANCE AND BOUNDARIES</a:t>
            </a:r>
            <a:endParaRPr lang="en-US" sz="1100" dirty="0"/>
          </a:p>
        </p:txBody>
      </p:sp>
      <p:sp>
        <p:nvSpPr>
          <p:cNvPr id="3" name="Text 1"/>
          <p:cNvSpPr/>
          <p:nvPr/>
        </p:nvSpPr>
        <p:spPr>
          <a:xfrm>
            <a:off x="594360" y="868680"/>
            <a:ext cx="10972800" cy="1005840"/>
          </a:xfrm>
          <a:prstGeom prst="rect">
            <a:avLst/>
          </a:prstGeom>
          <a:noFill/>
          <a:ln/>
        </p:spPr>
        <p:txBody>
          <a:bodyPr wrap="square" lIns="0" tIns="0" rIns="0" bIns="0" rtlCol="0" anchor="ctr">
            <a:normAutofit/>
          </a:bodyPr>
          <a:lstStyle/>
          <a:p>
            <a:pPr indent="0" marL="0">
              <a:buNone/>
            </a:pPr>
            <a:r>
              <a:rPr lang="en-US" sz="3100" b="1" dirty="0">
                <a:solidFill>
                  <a:srgbClr val="173E2C"/>
                </a:solidFill>
              </a:rPr>
              <a:t>A second pair of eyes. An expert still matters.</a:t>
            </a:r>
            <a:endParaRPr lang="en-US" sz="3100" dirty="0"/>
          </a:p>
        </p:txBody>
      </p:sp>
      <p:sp>
        <p:nvSpPr>
          <p:cNvPr id="4" name="Text 2"/>
          <p:cNvSpPr/>
          <p:nvPr/>
        </p:nvSpPr>
        <p:spPr>
          <a:xfrm>
            <a:off x="594360" y="2057400"/>
            <a:ext cx="10972800" cy="3931920"/>
          </a:xfrm>
          <a:prstGeom prst="rect">
            <a:avLst/>
          </a:prstGeom>
          <a:noFill/>
          <a:ln/>
        </p:spPr>
        <p:txBody>
          <a:bodyPr wrap="square" lIns="0" tIns="0" rIns="0" bIns="0" rtlCol="0" anchor="t">
            <a:normAutofit/>
          </a:bodyPr>
          <a:lstStyle/>
          <a:p>
            <a:pPr indent="0" marL="0">
              <a:spcAft>
                <a:spcPts val="700"/>
              </a:spcAft>
              <a:buNone/>
            </a:pPr>
            <a:r>
              <a:rPr lang="en-US" sz="1750" dirty="0">
                <a:solidFill>
                  <a:srgbClr val="173E2C"/>
                </a:solidFill>
              </a:rPr>
              <a:t>Potential value</a:t>
            </a:r>
            <a:endParaRPr lang="en-US" sz="1750" dirty="0"/>
          </a:p>
          <a:p>
            <a:pPr indent="0" marL="0">
              <a:spcAft>
                <a:spcPts val="700"/>
              </a:spcAft>
              <a:buNone/>
            </a:pPr>
            <a:r>
              <a:rPr lang="en-US" sz="1750" dirty="0">
                <a:solidFill>
                  <a:srgbClr val="173E2C"/>
                </a:solidFill>
              </a:rPr>
              <a:t>Low-cost photographic observations</a:t>
            </a:r>
            <a:endParaRPr lang="en-US" sz="1750" dirty="0"/>
          </a:p>
          <a:p>
            <a:pPr indent="0" marL="0">
              <a:spcAft>
                <a:spcPts val="700"/>
              </a:spcAft>
              <a:buNone/>
            </a:pPr>
            <a:r>
              <a:rPr lang="en-US" sz="1750" dirty="0">
                <a:solidFill>
                  <a:srgbClr val="173E2C"/>
                </a:solidFill>
              </a:rPr>
              <a:t>Hosted inference and a browser-local history</a:t>
            </a:r>
            <a:endParaRPr lang="en-US" sz="1750" dirty="0"/>
          </a:p>
          <a:p>
            <a:pPr indent="0" marL="0">
              <a:spcAft>
                <a:spcPts val="700"/>
              </a:spcAft>
              <a:buNone/>
            </a:pPr>
            <a:r>
              <a:rPr lang="en-US" sz="1750" dirty="0">
                <a:solidFill>
                  <a:srgbClr val="173E2C"/>
                </a:solidFill>
              </a:rPr>
              <a:t>Clear information for agricultural consultation</a:t>
            </a:r>
            <a:endParaRPr lang="en-US" sz="1750" dirty="0"/>
          </a:p>
          <a:p>
            <a:pPr indent="0" marL="0">
              <a:spcAft>
                <a:spcPts val="700"/>
              </a:spcAft>
              <a:buNone/>
            </a:pPr>
            <a:r>
              <a:rPr lang="en-US" sz="1750" dirty="0">
                <a:solidFill>
                  <a:srgbClr val="173E2C"/>
                </a:solidFill>
              </a:rPr>
              <a:t>What remains unverified</a:t>
            </a:r>
            <a:endParaRPr lang="en-US" sz="1750" dirty="0"/>
          </a:p>
          <a:p>
            <a:pPr indent="0" marL="0">
              <a:spcAft>
                <a:spcPts val="700"/>
              </a:spcAft>
              <a:buNone/>
            </a:pPr>
            <a:r>
              <a:rPr lang="en-US" sz="1750" dirty="0">
                <a:solidFill>
                  <a:srgbClr val="173E2C"/>
                </a:solidFill>
              </a:rPr>
              <a:t>Real field generalization</a:t>
            </a:r>
            <a:endParaRPr lang="en-US" sz="1750" dirty="0"/>
          </a:p>
          <a:p>
            <a:pPr indent="0" marL="0">
              <a:spcAft>
                <a:spcPts val="700"/>
              </a:spcAft>
              <a:buNone/>
            </a:pPr>
            <a:r>
              <a:rPr lang="en-US" sz="1750" dirty="0">
                <a:solidFill>
                  <a:srgbClr val="173E2C"/>
                </a:solidFill>
              </a:rPr>
              <a:t>Unknown diseases and non-leaf inputs</a:t>
            </a:r>
            <a:endParaRPr lang="en-US" sz="1750" dirty="0"/>
          </a:p>
          <a:p>
            <a:pPr indent="0" marL="0">
              <a:spcAft>
                <a:spcPts val="700"/>
              </a:spcAft>
              <a:buNone/>
            </a:pPr>
            <a:r>
              <a:rPr lang="en-US" sz="1750" dirty="0">
                <a:solidFill>
                  <a:srgbClr val="173E2C"/>
                </a:solidFill>
              </a:rPr>
              <a:t>Calibrated probabilities</a:t>
            </a:r>
            <a:endParaRPr lang="en-US" sz="1750" dirty="0"/>
          </a:p>
          <a:p>
            <a:pPr indent="0" marL="0">
              <a:spcAft>
                <a:spcPts val="700"/>
              </a:spcAft>
              <a:buNone/>
            </a:pPr>
            <a:r>
              <a:rPr lang="en-US" sz="1750" dirty="0">
                <a:solidFill>
                  <a:srgbClr val="173E2C"/>
                </a:solidFill>
              </a:rPr>
              <a:t>Farmer outcomes or yield improvements</a:t>
            </a:r>
            <a:endParaRPr lang="en-US" sz="1750" dirty="0"/>
          </a:p>
        </p:txBody>
      </p:sp>
      <p:sp>
        <p:nvSpPr>
          <p:cNvPr id="5" name="Shape 3"/>
          <p:cNvSpPr/>
          <p:nvPr/>
        </p:nvSpPr>
        <p:spPr>
          <a:xfrm>
            <a:off x="594360" y="6309360"/>
            <a:ext cx="10972800" cy="0"/>
          </a:xfrm>
          <a:prstGeom prst="line">
            <a:avLst/>
          </a:prstGeom>
          <a:noFill/>
          <a:ln w="12700">
            <a:solidFill>
              <a:srgbClr val="D6E2C8"/>
            </a:solidFill>
            <a:prstDash val="solid"/>
          </a:ln>
        </p:spPr>
      </p:sp>
      <p:sp>
        <p:nvSpPr>
          <p:cNvPr id="6" name="Text 4"/>
          <p:cNvSpPr/>
          <p:nvPr/>
        </p:nvSpPr>
        <p:spPr>
          <a:xfrm>
            <a:off x="594360" y="6446520"/>
            <a:ext cx="9144000" cy="182880"/>
          </a:xfrm>
          <a:prstGeom prst="rect">
            <a:avLst/>
          </a:prstGeom>
          <a:noFill/>
          <a:ln/>
        </p:spPr>
        <p:txBody>
          <a:bodyPr wrap="square" lIns="0" tIns="0" rIns="0" bIns="0" rtlCol="0" anchor="ctr"/>
          <a:lstStyle/>
          <a:p>
            <a:pPr indent="0" marL="0">
              <a:buNone/>
            </a:pPr>
            <a:r>
              <a:rPr lang="en-US" sz="1000" dirty="0">
                <a:solidFill>
                  <a:srgbClr val="728565"/>
                </a:solidFill>
              </a:rPr>
              <a:t>LeafLens · Deep Learning course project</a:t>
            </a:r>
            <a:endParaRPr lang="en-US" sz="1000" dirty="0"/>
          </a:p>
        </p:txBody>
      </p:sp>
      <p:sp>
        <p:nvSpPr>
          <p:cNvPr id="7" name="Text 5"/>
          <p:cNvSpPr/>
          <p:nvPr/>
        </p:nvSpPr>
        <p:spPr>
          <a:xfrm>
            <a:off x="10607040" y="6446520"/>
            <a:ext cx="914400" cy="182880"/>
          </a:xfrm>
          <a:prstGeom prst="rect">
            <a:avLst/>
          </a:prstGeom>
          <a:noFill/>
          <a:ln/>
        </p:spPr>
        <p:txBody>
          <a:bodyPr wrap="square" lIns="0" tIns="0" rIns="0" bIns="0" rtlCol="0" anchor="ctr"/>
          <a:lstStyle/>
          <a:p>
            <a:pPr algn="r" indent="0" marL="0">
              <a:buNone/>
            </a:pPr>
            <a:r>
              <a:rPr lang="en-US" sz="1000" dirty="0">
                <a:solidFill>
                  <a:srgbClr val="728565"/>
                </a:solidFill>
              </a:rPr>
              <a:t>11 / 12</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3E2C"/>
        </a:solidFill>
      </p:bgPr>
    </p:bg>
    <p:spTree>
      <p:nvGrpSpPr>
        <p:cNvPr id="1" name=""/>
        <p:cNvGrpSpPr/>
        <p:nvPr/>
      </p:nvGrpSpPr>
      <p:grpSpPr>
        <a:xfrm>
          <a:off x="0" y="0"/>
          <a:ext cx="0" cy="0"/>
          <a:chOff x="0" y="0"/>
          <a:chExt cx="0" cy="0"/>
        </a:xfrm>
      </p:grpSpPr>
      <p:sp>
        <p:nvSpPr>
          <p:cNvPr id="2" name="Text 0"/>
          <p:cNvSpPr/>
          <p:nvPr/>
        </p:nvSpPr>
        <p:spPr>
          <a:xfrm>
            <a:off x="594360" y="320040"/>
            <a:ext cx="10789920" cy="228600"/>
          </a:xfrm>
          <a:prstGeom prst="rect">
            <a:avLst/>
          </a:prstGeom>
          <a:noFill/>
          <a:ln/>
        </p:spPr>
        <p:txBody>
          <a:bodyPr wrap="square" lIns="0" tIns="0" rIns="0" bIns="0" rtlCol="0" anchor="ctr"/>
          <a:lstStyle/>
          <a:p>
            <a:pPr indent="0" marL="0">
              <a:buNone/>
            </a:pPr>
            <a:r>
              <a:rPr lang="en-US" sz="1100" spc="200" kern="0" dirty="0">
                <a:solidFill>
                  <a:srgbClr val="CBE79D"/>
                </a:solidFill>
              </a:rPr>
              <a:t>NEXT STEPS AND REFERENCES</a:t>
            </a:r>
            <a:endParaRPr lang="en-US" sz="1100" dirty="0"/>
          </a:p>
        </p:txBody>
      </p:sp>
      <p:sp>
        <p:nvSpPr>
          <p:cNvPr id="3" name="Text 1"/>
          <p:cNvSpPr/>
          <p:nvPr/>
        </p:nvSpPr>
        <p:spPr>
          <a:xfrm>
            <a:off x="594360" y="868680"/>
            <a:ext cx="10972800" cy="1005840"/>
          </a:xfrm>
          <a:prstGeom prst="rect">
            <a:avLst/>
          </a:prstGeom>
          <a:noFill/>
          <a:ln/>
        </p:spPr>
        <p:txBody>
          <a:bodyPr wrap="square" lIns="0" tIns="0" rIns="0" bIns="0" rtlCol="0" anchor="ctr">
            <a:normAutofit/>
          </a:bodyPr>
          <a:lstStyle/>
          <a:p>
            <a:pPr indent="0" marL="0">
              <a:buNone/>
            </a:pPr>
            <a:r>
              <a:rPr lang="en-US" sz="3100" b="1" dirty="0">
                <a:solidFill>
                  <a:srgbClr val="F4F8EB"/>
                </a:solidFill>
              </a:rPr>
              <a:t>From a course experiment to field evidence.</a:t>
            </a:r>
            <a:endParaRPr lang="en-US" sz="3100" dirty="0"/>
          </a:p>
        </p:txBody>
      </p:sp>
      <p:sp>
        <p:nvSpPr>
          <p:cNvPr id="4" name="Text 2"/>
          <p:cNvSpPr/>
          <p:nvPr/>
        </p:nvSpPr>
        <p:spPr>
          <a:xfrm>
            <a:off x="594360" y="2057400"/>
            <a:ext cx="10972800" cy="3931920"/>
          </a:xfrm>
          <a:prstGeom prst="rect">
            <a:avLst/>
          </a:prstGeom>
          <a:noFill/>
          <a:ln/>
        </p:spPr>
        <p:txBody>
          <a:bodyPr wrap="square" lIns="0" tIns="0" rIns="0" bIns="0" rtlCol="0" anchor="t">
            <a:normAutofit/>
          </a:bodyPr>
          <a:lstStyle/>
          <a:p>
            <a:pPr indent="0" marL="0">
              <a:spcAft>
                <a:spcPts val="700"/>
              </a:spcAft>
              <a:buNone/>
            </a:pPr>
            <a:r>
              <a:rPr lang="en-US" sz="1750" dirty="0">
                <a:solidFill>
                  <a:srgbClr val="F4F8EB"/>
                </a:solidFill>
              </a:rPr>
              <a:t>Full-data training → leaf-grouped splits → external field validation → confidence calibration → usability studies.</a:t>
            </a:r>
            <a:endParaRPr lang="en-US" sz="1750" dirty="0"/>
          </a:p>
          <a:p>
            <a:pPr indent="0" marL="0">
              <a:spcAft>
                <a:spcPts val="700"/>
              </a:spcAft>
              <a:buNone/>
            </a:pPr>
            <a:r>
              <a:rPr lang="en-US" sz="1750" dirty="0">
                <a:solidFill>
                  <a:srgbClr val="F4F8EB"/>
                </a:solidFill>
              </a:rPr>
              <a:t>Mohanty et al. (2016), Using Deep Learning for Image-Based Plant Disease Detection.</a:t>
            </a:r>
            <a:endParaRPr lang="en-US" sz="1750" dirty="0"/>
          </a:p>
          <a:p>
            <a:pPr indent="0" marL="0">
              <a:spcAft>
                <a:spcPts val="700"/>
              </a:spcAft>
              <a:buNone/>
            </a:pPr>
            <a:r>
              <a:rPr lang="en-US" sz="1750" dirty="0">
                <a:solidFill>
                  <a:srgbClr val="F4F8EB"/>
                </a:solidFill>
              </a:rPr>
              <a:t>Simonyan &amp; Zisserman (2014), Very Deep Convolutional Networks for Large-Scale Image Recognition.</a:t>
            </a:r>
            <a:endParaRPr lang="en-US" sz="1750" dirty="0"/>
          </a:p>
          <a:p>
            <a:pPr indent="0" marL="0">
              <a:spcAft>
                <a:spcPts val="700"/>
              </a:spcAft>
              <a:buNone/>
            </a:pPr>
            <a:r>
              <a:rPr lang="en-US" sz="1750" dirty="0">
                <a:solidFill>
                  <a:srgbClr val="F4F8EB"/>
                </a:solidFill>
              </a:rPr>
              <a:t>Selvaraju et al. (2016), Grad-CAM: Visual Explanations from Deep Networks.</a:t>
            </a:r>
            <a:endParaRPr lang="en-US" sz="1750" dirty="0"/>
          </a:p>
          <a:p>
            <a:pPr indent="0" marL="0">
              <a:spcAft>
                <a:spcPts val="700"/>
              </a:spcAft>
              <a:buNone/>
            </a:pPr>
            <a:r>
              <a:rPr lang="en-US" sz="1750" dirty="0">
                <a:solidFill>
                  <a:srgbClr val="F4F8EB"/>
                </a:solidFill>
              </a:rPr>
              <a:t>PlantVillage Kaggle dataset; original authors’ dataset repository; PyTorch/Torchvision documentation.</a:t>
            </a:r>
            <a:endParaRPr lang="en-US" sz="1750" dirty="0"/>
          </a:p>
          <a:p>
            <a:pPr indent="0" marL="0">
              <a:spcAft>
                <a:spcPts val="700"/>
              </a:spcAft>
              <a:buNone/>
            </a:pPr>
            <a:r>
              <a:rPr lang="en-US" sz="1750" dirty="0">
                <a:solidFill>
                  <a:srgbClr val="F4F8EB"/>
                </a:solidFill>
              </a:rPr>
              <a:t>Live demonstration: open LeafLens and inspect a held-out sample.</a:t>
            </a:r>
            <a:endParaRPr lang="en-US" sz="1750" dirty="0"/>
          </a:p>
        </p:txBody>
      </p:sp>
      <p:sp>
        <p:nvSpPr>
          <p:cNvPr id="5" name="Shape 3"/>
          <p:cNvSpPr/>
          <p:nvPr/>
        </p:nvSpPr>
        <p:spPr>
          <a:xfrm>
            <a:off x="594360" y="6309360"/>
            <a:ext cx="10972800" cy="0"/>
          </a:xfrm>
          <a:prstGeom prst="line">
            <a:avLst/>
          </a:prstGeom>
          <a:noFill/>
          <a:ln w="12700">
            <a:solidFill>
              <a:srgbClr val="57754A"/>
            </a:solidFill>
            <a:prstDash val="solid"/>
          </a:ln>
        </p:spPr>
      </p:sp>
      <p:sp>
        <p:nvSpPr>
          <p:cNvPr id="6" name="Text 4"/>
          <p:cNvSpPr/>
          <p:nvPr/>
        </p:nvSpPr>
        <p:spPr>
          <a:xfrm>
            <a:off x="594360" y="6446520"/>
            <a:ext cx="9144000" cy="182880"/>
          </a:xfrm>
          <a:prstGeom prst="rect">
            <a:avLst/>
          </a:prstGeom>
          <a:noFill/>
          <a:ln/>
        </p:spPr>
        <p:txBody>
          <a:bodyPr wrap="square" lIns="0" tIns="0" rIns="0" bIns="0" rtlCol="0" anchor="ctr"/>
          <a:lstStyle/>
          <a:p>
            <a:pPr indent="0" marL="0">
              <a:buNone/>
            </a:pPr>
            <a:r>
              <a:rPr lang="en-US" sz="1000" dirty="0">
                <a:solidFill>
                  <a:srgbClr val="CBE79D"/>
                </a:solidFill>
              </a:rPr>
              <a:t>LeafLens · Deep Learning course project</a:t>
            </a:r>
            <a:endParaRPr lang="en-US" sz="1000" dirty="0"/>
          </a:p>
        </p:txBody>
      </p:sp>
      <p:sp>
        <p:nvSpPr>
          <p:cNvPr id="7" name="Text 5"/>
          <p:cNvSpPr/>
          <p:nvPr/>
        </p:nvSpPr>
        <p:spPr>
          <a:xfrm>
            <a:off x="10607040" y="6446520"/>
            <a:ext cx="914400" cy="182880"/>
          </a:xfrm>
          <a:prstGeom prst="rect">
            <a:avLst/>
          </a:prstGeom>
          <a:noFill/>
          <a:ln/>
        </p:spPr>
        <p:txBody>
          <a:bodyPr wrap="square" lIns="0" tIns="0" rIns="0" bIns="0" rtlCol="0" anchor="ctr"/>
          <a:lstStyle/>
          <a:p>
            <a:pPr algn="r" indent="0" marL="0">
              <a:buNone/>
            </a:pPr>
            <a:r>
              <a:rPr lang="en-US" sz="1000" dirty="0">
                <a:solidFill>
                  <a:srgbClr val="CBE79D"/>
                </a:solidFill>
              </a:rPr>
              <a:t>12 / 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Course project team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LeafLens</dc:title>
  <dc:subject>Deep Learning course project</dc:subject>
  <dc:creator>Atul Biju; Athul M B; Athul Chandran</dc:creator>
  <cp:lastModifiedBy>Atul Biju; Athul M B; Athul Chandran</cp:lastModifiedBy>
  <cp:revision>1</cp:revision>
  <dcterms:created xsi:type="dcterms:W3CDTF">2026-10-11T05:09:01Z</dcterms:created>
  <dcterms:modified xsi:type="dcterms:W3CDTF">2026-10-11T05:09:01Z</dcterms:modified>
</cp:coreProperties>
</file>